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Arial Bold" charset="1" panose="020B070402020202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99723" cy="10312403"/>
            <a:chOff x="0" y="0"/>
            <a:chExt cx="39963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66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399669">
                  <a:moveTo>
                    <a:pt x="0" y="0"/>
                  </a:moveTo>
                  <a:lnTo>
                    <a:pt x="399669" y="0"/>
                  </a:lnTo>
                  <a:lnTo>
                    <a:pt x="39966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61623" y="-12697"/>
            <a:ext cx="18039083" cy="135131"/>
            <a:chOff x="0" y="0"/>
            <a:chExt cx="24052111" cy="180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2149" cy="180213"/>
            </a:xfrm>
            <a:custGeom>
              <a:avLst/>
              <a:gdLst/>
              <a:ahLst/>
              <a:cxnLst/>
              <a:rect r="r" b="b" t="t" l="l"/>
              <a:pathLst>
                <a:path h="180213" w="24052149">
                  <a:moveTo>
                    <a:pt x="0" y="0"/>
                  </a:moveTo>
                  <a:lnTo>
                    <a:pt x="24052149" y="0"/>
                  </a:lnTo>
                  <a:lnTo>
                    <a:pt x="2405214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6459200" cy="640080"/>
            <a:chOff x="0" y="0"/>
            <a:chExt cx="21945600" cy="853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KruSh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743200"/>
            <a:ext cx="16459200" cy="2926080"/>
            <a:chOff x="0" y="0"/>
            <a:chExt cx="21945600" cy="3901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1945600" cy="3949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0"/>
                </a:lnSpc>
              </a:pPr>
              <a:r>
                <a:rPr lang="en-US" sz="14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City Samachaar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5852160"/>
            <a:ext cx="14630400" cy="1280160"/>
            <a:chOff x="0" y="0"/>
            <a:chExt cx="19507200" cy="1706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950720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E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Quantum-Assisted Emergency &amp; Disaster Intelligence for Urban Areas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7863840"/>
            <a:ext cx="12801600" cy="914400"/>
            <a:chOff x="0" y="0"/>
            <a:chExt cx="1706880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068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 whats going on in your city. Before it's too late.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11350" y="2175510"/>
            <a:ext cx="4610100" cy="4610100"/>
            <a:chOff x="0" y="0"/>
            <a:chExt cx="6146800" cy="614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46800" cy="6146800"/>
            </a:xfrm>
            <a:custGeom>
              <a:avLst/>
              <a:gdLst/>
              <a:ahLst/>
              <a:cxnLst/>
              <a:rect r="r" b="b" t="t" l="l"/>
              <a:pathLst>
                <a:path h="6146800" w="6146800">
                  <a:moveTo>
                    <a:pt x="0" y="3073400"/>
                  </a:moveTo>
                  <a:cubicBezTo>
                    <a:pt x="0" y="1376045"/>
                    <a:pt x="1376045" y="0"/>
                    <a:pt x="3073400" y="0"/>
                  </a:cubicBezTo>
                  <a:cubicBezTo>
                    <a:pt x="4770755" y="0"/>
                    <a:pt x="6146800" y="1376045"/>
                    <a:pt x="6146800" y="3073400"/>
                  </a:cubicBezTo>
                  <a:cubicBezTo>
                    <a:pt x="6146800" y="4770755"/>
                    <a:pt x="4770755" y="6146800"/>
                    <a:pt x="3073400" y="6146800"/>
                  </a:cubicBezTo>
                  <a:cubicBezTo>
                    <a:pt x="1376045" y="6146800"/>
                    <a:pt x="0" y="4770755"/>
                    <a:pt x="0" y="3073400"/>
                  </a:cubicBezTo>
                  <a:close/>
                </a:path>
              </a:pathLst>
            </a:custGeom>
            <a:solidFill>
              <a:srgbClr val="00B4D8">
                <a:alpha val="1176"/>
              </a:srgbClr>
            </a:solidFill>
            <a:ln w="381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5532103" y="3096263"/>
            <a:ext cx="2768603" cy="2768603"/>
            <a:chOff x="0" y="0"/>
            <a:chExt cx="3691471" cy="36914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91509" cy="3691509"/>
            </a:xfrm>
            <a:custGeom>
              <a:avLst/>
              <a:gdLst/>
              <a:ahLst/>
              <a:cxnLst/>
              <a:rect r="r" b="b" t="t" l="l"/>
              <a:pathLst>
                <a:path h="3691509" w="3691509">
                  <a:moveTo>
                    <a:pt x="0" y="1845691"/>
                  </a:moveTo>
                  <a:cubicBezTo>
                    <a:pt x="0" y="826389"/>
                    <a:pt x="826389" y="0"/>
                    <a:pt x="1845691" y="0"/>
                  </a:cubicBezTo>
                  <a:cubicBezTo>
                    <a:pt x="2864993" y="0"/>
                    <a:pt x="3691509" y="826389"/>
                    <a:pt x="3691509" y="1845691"/>
                  </a:cubicBezTo>
                  <a:cubicBezTo>
                    <a:pt x="3691509" y="2864993"/>
                    <a:pt x="2865120" y="3691509"/>
                    <a:pt x="1845691" y="3691509"/>
                  </a:cubicBezTo>
                  <a:cubicBezTo>
                    <a:pt x="826262" y="3691509"/>
                    <a:pt x="0" y="2865120"/>
                    <a:pt x="0" y="1845691"/>
                  </a:cubicBezTo>
                  <a:close/>
                </a:path>
              </a:pathLst>
            </a:custGeom>
            <a:solidFill>
              <a:srgbClr val="00E5FF">
                <a:alpha val="5882"/>
              </a:srgbClr>
            </a:solidFill>
            <a:ln w="25400" cap="sq">
              <a:solidFill>
                <a:srgbClr val="00E5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0A1628"/>
            </a:solidFill>
            <a:ln w="25400" cap="sq">
              <a:solidFill>
                <a:srgbClr val="0A162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18872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Bengaluru loses lives to response delays every day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2286000"/>
            <a:ext cx="5303520" cy="2743200"/>
            <a:chOff x="0" y="0"/>
            <a:chExt cx="7071360" cy="365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35943" y="2273303"/>
            <a:ext cx="5328923" cy="153419"/>
            <a:chOff x="0" y="0"/>
            <a:chExt cx="7105231" cy="2045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05269" cy="204597"/>
            </a:xfrm>
            <a:custGeom>
              <a:avLst/>
              <a:gdLst/>
              <a:ahLst/>
              <a:cxnLst/>
              <a:rect r="r" b="b" t="t" l="l"/>
              <a:pathLst>
                <a:path h="204597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E63946"/>
            </a:solidFill>
            <a:ln w="25400" cap="sq">
              <a:solidFill>
                <a:srgbClr val="E6394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468880"/>
            <a:ext cx="5303520" cy="1554480"/>
            <a:chOff x="0" y="0"/>
            <a:chExt cx="7071360" cy="2072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713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78" r="0" b="-1647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42875"/>
              <a:ext cx="7071360" cy="2215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E639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4,974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4023360"/>
            <a:ext cx="5303520" cy="914400"/>
            <a:chOff x="0" y="0"/>
            <a:chExt cx="707136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1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0713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Road Crashes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2023 alone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0" y="2286000"/>
            <a:ext cx="5303520" cy="2743200"/>
            <a:chOff x="0" y="0"/>
            <a:chExt cx="7071360" cy="365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388103" y="2273303"/>
            <a:ext cx="5328923" cy="153419"/>
            <a:chOff x="0" y="0"/>
            <a:chExt cx="7105231" cy="2045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05269" cy="204597"/>
            </a:xfrm>
            <a:custGeom>
              <a:avLst/>
              <a:gdLst/>
              <a:ahLst/>
              <a:cxnLst/>
              <a:rect r="r" b="b" t="t" l="l"/>
              <a:pathLst>
                <a:path h="204597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E07A00"/>
            </a:solidFill>
            <a:ln w="25400" cap="sq">
              <a:solidFill>
                <a:srgbClr val="E07A0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400800" y="2468880"/>
            <a:ext cx="5303520" cy="1554480"/>
            <a:chOff x="0" y="0"/>
            <a:chExt cx="7071360" cy="2072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713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78" r="0" b="-1647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42875"/>
              <a:ext cx="7071360" cy="2215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E07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910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00800" y="4023360"/>
            <a:ext cx="5303520" cy="914400"/>
            <a:chOff x="0" y="0"/>
            <a:chExt cx="707136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71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0713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People Killed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2023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252960" y="2286000"/>
            <a:ext cx="5303520" cy="2743200"/>
            <a:chOff x="0" y="0"/>
            <a:chExt cx="7071360" cy="3657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240263" y="2273303"/>
            <a:ext cx="5328923" cy="153419"/>
            <a:chOff x="0" y="0"/>
            <a:chExt cx="7105231" cy="2045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05269" cy="204597"/>
            </a:xfrm>
            <a:custGeom>
              <a:avLst/>
              <a:gdLst/>
              <a:ahLst/>
              <a:cxnLst/>
              <a:rect r="r" b="b" t="t" l="l"/>
              <a:pathLst>
                <a:path h="204597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252960" y="2468880"/>
            <a:ext cx="5303520" cy="1554480"/>
            <a:chOff x="0" y="0"/>
            <a:chExt cx="7071360" cy="2072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713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78" r="0" b="-1647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42875"/>
              <a:ext cx="7071360" cy="2215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077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~18 min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52960" y="4023360"/>
            <a:ext cx="5303520" cy="914400"/>
            <a:chOff x="0" y="0"/>
            <a:chExt cx="707136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71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0713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Emergency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Response Time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48640" y="5084064"/>
            <a:ext cx="10972800" cy="457200"/>
            <a:chOff x="0" y="0"/>
            <a:chExt cx="14630400" cy="609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Bengaluru Traffic Police, OpenCity 2023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48640" y="5669280"/>
            <a:ext cx="5303520" cy="3657600"/>
            <a:chOff x="0" y="0"/>
            <a:chExt cx="7071360" cy="4876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71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35943" y="5656583"/>
            <a:ext cx="171707" cy="3683003"/>
            <a:chOff x="0" y="0"/>
            <a:chExt cx="228943" cy="491067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8981" cy="4910709"/>
            </a:xfrm>
            <a:custGeom>
              <a:avLst/>
              <a:gdLst/>
              <a:ahLst/>
              <a:cxnLst/>
              <a:rect r="r" b="b" t="t" l="l"/>
              <a:pathLst>
                <a:path h="491070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E63946"/>
            </a:solidFill>
            <a:ln w="25400" cap="sq">
              <a:solidFill>
                <a:srgbClr val="E63946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" y="5815584"/>
            <a:ext cx="914400" cy="694944"/>
            <a:chOff x="0" y="0"/>
            <a:chExt cx="12192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19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510" t="0" r="-4751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2192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639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6400800"/>
            <a:ext cx="4846320" cy="640080"/>
            <a:chOff x="0" y="0"/>
            <a:chExt cx="646176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61760" cy="853440"/>
            </a:xfrm>
            <a:custGeom>
              <a:avLst/>
              <a:gdLst/>
              <a:ahLst/>
              <a:cxnLst/>
              <a:rect r="r" b="b" t="t" l="l"/>
              <a:pathLst>
                <a:path h="8534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4617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Fragmented Signals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22960" y="7040880"/>
            <a:ext cx="4846320" cy="2103120"/>
            <a:chOff x="0" y="0"/>
            <a:chExt cx="6461760" cy="2804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617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78" t="0" r="-5678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46176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flood on Silk Board is reported on WhatsApp, Reddit, Google News and 112 as 4 separate events. No system joins them.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400800" y="5669280"/>
            <a:ext cx="5303520" cy="3657600"/>
            <a:chOff x="0" y="0"/>
            <a:chExt cx="7071360" cy="4876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71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388103" y="5656583"/>
            <a:ext cx="171707" cy="3683003"/>
            <a:chOff x="0" y="0"/>
            <a:chExt cx="228943" cy="49106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8981" cy="4910709"/>
            </a:xfrm>
            <a:custGeom>
              <a:avLst/>
              <a:gdLst/>
              <a:ahLst/>
              <a:cxnLst/>
              <a:rect r="r" b="b" t="t" l="l"/>
              <a:pathLst>
                <a:path h="491070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E07A00"/>
            </a:solidFill>
            <a:ln w="25400" cap="sq">
              <a:solidFill>
                <a:srgbClr val="E07A0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6675120" y="5815584"/>
            <a:ext cx="914400" cy="694944"/>
            <a:chOff x="0" y="0"/>
            <a:chExt cx="1219200" cy="926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19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510" t="0" r="-47510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2192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07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675120" y="6400800"/>
            <a:ext cx="4846320" cy="640080"/>
            <a:chOff x="0" y="0"/>
            <a:chExt cx="646176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461760" cy="853440"/>
            </a:xfrm>
            <a:custGeom>
              <a:avLst/>
              <a:gdLst/>
              <a:ahLst/>
              <a:cxnLst/>
              <a:rect r="r" b="b" t="t" l="l"/>
              <a:pathLst>
                <a:path h="8534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4617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Escalation Foresight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675120" y="7040880"/>
            <a:ext cx="4846320" cy="2103120"/>
            <a:chOff x="0" y="0"/>
            <a:chExt cx="6461760" cy="28041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4617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78" t="0" r="-5678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46176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Responders react after things worsen. Nobody predicts 'this cluster of 3 waterlogging reports will become critical in 15 min.'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252960" y="5669280"/>
            <a:ext cx="5303520" cy="3657600"/>
            <a:chOff x="0" y="0"/>
            <a:chExt cx="7071360" cy="4876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071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240263" y="5656583"/>
            <a:ext cx="171707" cy="3683003"/>
            <a:chOff x="0" y="0"/>
            <a:chExt cx="228943" cy="491067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8981" cy="4910709"/>
            </a:xfrm>
            <a:custGeom>
              <a:avLst/>
              <a:gdLst/>
              <a:ahLst/>
              <a:cxnLst/>
              <a:rect r="r" b="b" t="t" l="l"/>
              <a:pathLst>
                <a:path h="491070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2527280" y="5815584"/>
            <a:ext cx="914400" cy="694944"/>
            <a:chOff x="0" y="0"/>
            <a:chExt cx="1219200" cy="9265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19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510" t="0" r="-47510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12192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77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527280" y="6400800"/>
            <a:ext cx="4846320" cy="640080"/>
            <a:chOff x="0" y="0"/>
            <a:chExt cx="6461760" cy="8534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461760" cy="853440"/>
            </a:xfrm>
            <a:custGeom>
              <a:avLst/>
              <a:gdLst/>
              <a:ahLst/>
              <a:cxnLst/>
              <a:rect r="r" b="b" t="t" l="l"/>
              <a:pathLst>
                <a:path h="8534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64617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Suboptimal Dispatch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527280" y="7040880"/>
            <a:ext cx="4846320" cy="2103120"/>
            <a:chOff x="0" y="0"/>
            <a:chExt cx="6461760" cy="28041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4617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78" t="0" r="-5678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646176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assignment with multiple simultaneous incidents leaves the closest qualified unit idle while wrong ones cross town.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99723" cy="10312403"/>
            <a:chOff x="0" y="0"/>
            <a:chExt cx="39963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66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399669">
                  <a:moveTo>
                    <a:pt x="0" y="0"/>
                  </a:moveTo>
                  <a:lnTo>
                    <a:pt x="399669" y="0"/>
                  </a:lnTo>
                  <a:lnTo>
                    <a:pt x="39966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45720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City Samachaar?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426464"/>
            <a:ext cx="16459200" cy="731520"/>
            <a:chOff x="0" y="0"/>
            <a:chExt cx="2194560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unified intelligence layer for every urban citizen and emergency responder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2468880"/>
            <a:ext cx="8229600" cy="2194560"/>
            <a:chOff x="0" y="0"/>
            <a:chExt cx="10972800" cy="2926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2651760"/>
            <a:ext cx="7680960" cy="640080"/>
            <a:chOff x="0" y="0"/>
            <a:chExt cx="1024128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E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📡  Multi-source aggregation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" y="3236976"/>
            <a:ext cx="7680960" cy="1280160"/>
            <a:chOff x="0" y="0"/>
            <a:chExt cx="10241280" cy="1706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2412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ABB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Pulls live data from Reddit, Twitter/X, Google News, RSS feeds, BBMP warnings, and citizen reports — fused into one signal.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09760" y="2468880"/>
            <a:ext cx="8229600" cy="2194560"/>
            <a:chOff x="0" y="0"/>
            <a:chExt cx="10972800" cy="2926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784080" y="2651760"/>
            <a:ext cx="7680960" cy="640080"/>
            <a:chOff x="0" y="0"/>
            <a:chExt cx="1024128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E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🔔  Proactive citizen alerts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84080" y="3236976"/>
            <a:ext cx="7680960" cy="1280160"/>
            <a:chOff x="0" y="0"/>
            <a:chExt cx="10241280" cy="1706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2412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ABB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Notifies you based on your location before an incident escalates. You don't need to check the news — it finds you.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4937760"/>
            <a:ext cx="8229600" cy="2194560"/>
            <a:chOff x="0" y="0"/>
            <a:chExt cx="10972800" cy="2926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5840" y="5120640"/>
            <a:ext cx="7680960" cy="640080"/>
            <a:chOff x="0" y="0"/>
            <a:chExt cx="1024128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E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🤖  AI-powered incident classification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5840" y="5705856"/>
            <a:ext cx="7680960" cy="1280160"/>
            <a:chOff x="0" y="0"/>
            <a:chExt cx="10241280" cy="1706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2412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ABB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 analyzes, deduplicates and scores severity of every incoming event. Image + voice reports supported via Google Vision.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09760" y="4937760"/>
            <a:ext cx="8229600" cy="2194560"/>
            <a:chOff x="0" y="0"/>
            <a:chExt cx="10972800" cy="2926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84080" y="5120640"/>
            <a:ext cx="7680960" cy="640080"/>
            <a:chOff x="0" y="0"/>
            <a:chExt cx="1024128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E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⚛️  Quantum-enhanced predictions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784080" y="5705856"/>
            <a:ext cx="7680960" cy="1280160"/>
            <a:chOff x="0" y="0"/>
            <a:chExt cx="10241280" cy="17068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2412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ABB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QNN trained on 18 years of Bengaluru data predicts flood, crash and emergency escalation risk before it happens.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31520" y="7406640"/>
            <a:ext cx="8229600" cy="2194560"/>
            <a:chOff x="0" y="0"/>
            <a:chExt cx="10972800" cy="2926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05840" y="7589520"/>
            <a:ext cx="7680960" cy="640080"/>
            <a:chOff x="0" y="0"/>
            <a:chExt cx="1024128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E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🚑  Optimal responder dispatch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5840" y="8174736"/>
            <a:ext cx="7680960" cy="1280160"/>
            <a:chOff x="0" y="0"/>
            <a:chExt cx="10241280" cy="17068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2412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ABB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QAOA quantum optimizer assigns nearest qualified responders — ambulance, police, fire — minimizing response time.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09760" y="7406640"/>
            <a:ext cx="8229600" cy="2194560"/>
            <a:chOff x="0" y="0"/>
            <a:chExt cx="10972800" cy="2926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784080" y="7589520"/>
            <a:ext cx="7680960" cy="640080"/>
            <a:chOff x="0" y="0"/>
            <a:chExt cx="1024128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E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🔐  Post-quantum secure comms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84080" y="8174736"/>
            <a:ext cx="7680960" cy="1280160"/>
            <a:chOff x="0" y="0"/>
            <a:chExt cx="10241280" cy="1706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241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24128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ABB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dispatch messages encrypted with Kyber512 (NIST 2024 standard) — future-proof against quantum attacks.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472309"/>
            </a:xfrm>
            <a:custGeom>
              <a:avLst/>
              <a:gdLst/>
              <a:ahLst/>
              <a:cxnLst/>
              <a:rect r="r" b="b" t="t" l="l"/>
              <a:pathLst>
                <a:path h="24723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0A1628"/>
            </a:solidFill>
            <a:ln w="25400" cap="sq">
              <a:solidFill>
                <a:srgbClr val="0A162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Does the Data Come From?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2011680"/>
            <a:ext cx="8229600" cy="640080"/>
            <a:chOff x="0" y="0"/>
            <a:chExt cx="109728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0077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DATA FEEDS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2834640"/>
            <a:ext cx="7863840" cy="1426464"/>
            <a:chOff x="0" y="0"/>
            <a:chExt cx="10485120" cy="19019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85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2962656"/>
            <a:ext cx="7132320" cy="512064"/>
            <a:chOff x="0" y="0"/>
            <a:chExt cx="950976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🐦  Twitter / X &amp; Reddit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" y="3474720"/>
            <a:ext cx="7132320" cy="640080"/>
            <a:chOff x="0" y="0"/>
            <a:chExt cx="950976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5097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Scraped in real-time for incident reports, location hashtags, and crowd signals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1520" y="4480560"/>
            <a:ext cx="7863840" cy="1426464"/>
            <a:chOff x="0" y="0"/>
            <a:chExt cx="10485120" cy="19019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85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840" y="4608576"/>
            <a:ext cx="7132320" cy="512064"/>
            <a:chOff x="0" y="0"/>
            <a:chExt cx="950976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📰  Google News &amp; RSS Feeds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5840" y="5120640"/>
            <a:ext cx="7132320" cy="640080"/>
            <a:chOff x="0" y="0"/>
            <a:chExt cx="950976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5097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news articles parsed for emergency events across the city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6126480"/>
            <a:ext cx="7863840" cy="1426464"/>
            <a:chOff x="0" y="0"/>
            <a:chExt cx="10485120" cy="19019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85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5840" y="6254496"/>
            <a:ext cx="7132320" cy="512064"/>
            <a:chOff x="0" y="0"/>
            <a:chExt cx="950976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🏛️  BBMP / BTP Alerts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5840" y="6766560"/>
            <a:ext cx="7132320" cy="640080"/>
            <a:chOff x="0" y="0"/>
            <a:chExt cx="950976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5097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Official municipal warnings, traffic police alerts, and road closure notices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31520" y="7772400"/>
            <a:ext cx="7863840" cy="1426464"/>
            <a:chOff x="0" y="0"/>
            <a:chExt cx="10485120" cy="19019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85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05840" y="7900416"/>
            <a:ext cx="7132320" cy="512064"/>
            <a:chOff x="0" y="0"/>
            <a:chExt cx="9509760" cy="6827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509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📱  Citizen App Reports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05840" y="8412480"/>
            <a:ext cx="7132320" cy="640080"/>
            <a:chOff x="0" y="0"/>
            <a:chExt cx="950976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5097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In-app image (Google Vision) and voice (AI agent) incident submissions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26880" y="2011680"/>
            <a:ext cx="8229600" cy="640080"/>
            <a:chOff x="0" y="0"/>
            <a:chExt cx="109728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HISTORICAL &amp; REFERENCE DATA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26880" y="2834640"/>
            <a:ext cx="8229600" cy="1426464"/>
            <a:chOff x="0" y="0"/>
            <a:chExt cx="10972800" cy="19019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314183" y="2821943"/>
            <a:ext cx="153419" cy="1451867"/>
            <a:chOff x="0" y="0"/>
            <a:chExt cx="204559" cy="193582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4597" cy="1935861"/>
            </a:xfrm>
            <a:custGeom>
              <a:avLst/>
              <a:gdLst/>
              <a:ahLst/>
              <a:cxnLst/>
              <a:rect r="r" b="b" t="t" l="l"/>
              <a:pathLst>
                <a:path h="1935861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7B2FBE"/>
            </a:solidFill>
            <a:ln w="254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601200" y="2962656"/>
            <a:ext cx="7680960" cy="512064"/>
            <a:chOff x="0" y="0"/>
            <a:chExt cx="1024128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OpenCity Dataset (2007–2025)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01200" y="3474720"/>
            <a:ext cx="7680960" cy="640080"/>
            <a:chOff x="0" y="0"/>
            <a:chExt cx="1024128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 years of Bengaluru crash, fatality, and jurisdiction data across 69 stations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326880" y="4480560"/>
            <a:ext cx="8229600" cy="1426464"/>
            <a:chOff x="0" y="0"/>
            <a:chExt cx="10972800" cy="19019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314183" y="4467863"/>
            <a:ext cx="153419" cy="1451867"/>
            <a:chOff x="0" y="0"/>
            <a:chExt cx="204559" cy="193582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597" cy="1935861"/>
            </a:xfrm>
            <a:custGeom>
              <a:avLst/>
              <a:gdLst/>
              <a:ahLst/>
              <a:cxnLst/>
              <a:rect r="r" b="b" t="t" l="l"/>
              <a:pathLst>
                <a:path h="1935861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7B2FBE"/>
            </a:solidFill>
            <a:ln w="254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601200" y="4608576"/>
            <a:ext cx="7680960" cy="512064"/>
            <a:chOff x="0" y="0"/>
            <a:chExt cx="1024128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🌧️  Karnataka Rainfall Data 2025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01200" y="5120640"/>
            <a:ext cx="7680960" cy="640080"/>
            <a:chOff x="0" y="0"/>
            <a:chExt cx="1024128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District-level precipitation for accessibility risk scoring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326880" y="6126480"/>
            <a:ext cx="8229600" cy="1426464"/>
            <a:chOff x="0" y="0"/>
            <a:chExt cx="10972800" cy="19019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314183" y="6113783"/>
            <a:ext cx="153419" cy="1451867"/>
            <a:chOff x="0" y="0"/>
            <a:chExt cx="204559" cy="193582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4597" cy="1935861"/>
            </a:xfrm>
            <a:custGeom>
              <a:avLst/>
              <a:gdLst/>
              <a:ahLst/>
              <a:cxnLst/>
              <a:rect r="r" b="b" t="t" l="l"/>
              <a:pathLst>
                <a:path h="1935861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7B2FBE"/>
            </a:solidFill>
            <a:ln w="254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601200" y="6254496"/>
            <a:ext cx="7680960" cy="512064"/>
            <a:chOff x="0" y="0"/>
            <a:chExt cx="10241280" cy="68275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☁️  Open-Meteo API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01200" y="6766560"/>
            <a:ext cx="7680960" cy="640080"/>
            <a:chOff x="0" y="0"/>
            <a:chExt cx="10241280" cy="8534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weather: auto-increases road cost if rainfall &gt; 10mm/hr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326880" y="7772400"/>
            <a:ext cx="8229600" cy="1426464"/>
            <a:chOff x="0" y="0"/>
            <a:chExt cx="10972800" cy="19019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314183" y="7759703"/>
            <a:ext cx="153419" cy="1451867"/>
            <a:chOff x="0" y="0"/>
            <a:chExt cx="204559" cy="193582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4597" cy="1935861"/>
            </a:xfrm>
            <a:custGeom>
              <a:avLst/>
              <a:gdLst/>
              <a:ahLst/>
              <a:cxnLst/>
              <a:rect r="r" b="b" t="t" l="l"/>
              <a:pathLst>
                <a:path h="1935861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7B2FBE"/>
            </a:solidFill>
            <a:ln w="254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601200" y="7900416"/>
            <a:ext cx="7680960" cy="512064"/>
            <a:chOff x="0" y="0"/>
            <a:chExt cx="10241280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🗺️  Neo4j Graph DB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601200" y="8412480"/>
            <a:ext cx="7680960" cy="640080"/>
            <a:chOff x="0" y="0"/>
            <a:chExt cx="10241280" cy="8534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road/coord matrix encoding jurisdiction relationships and risk zones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329184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24332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7-Step Intelligent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188720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fragmented signals to optimal dispatch — in seconds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2103120"/>
            <a:ext cx="1828800" cy="1828800"/>
            <a:chOff x="0" y="0"/>
            <a:chExt cx="243840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2103120"/>
            <a:ext cx="1828800" cy="1828800"/>
            <a:chOff x="0" y="0"/>
            <a:chExt cx="2438400" cy="243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2438400" cy="2543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24150" y="2907030"/>
            <a:ext cx="458724" cy="38100"/>
            <a:chOff x="0" y="0"/>
            <a:chExt cx="611632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1632" cy="50800"/>
            </a:xfrm>
            <a:custGeom>
              <a:avLst/>
              <a:gdLst/>
              <a:ahLst/>
              <a:cxnLst/>
              <a:rect r="r" b="b" t="t" l="l"/>
              <a:pathLst>
                <a:path h="50800" w="611632">
                  <a:moveTo>
                    <a:pt x="0" y="0"/>
                  </a:moveTo>
                  <a:lnTo>
                    <a:pt x="611632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84599" r="0" b="-184599"/>
              </a:stretch>
            </a:blipFill>
            <a:ln w="38100" cap="sq">
              <a:solidFill>
                <a:srgbClr val="44556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4114800"/>
            <a:ext cx="2194560" cy="3291840"/>
            <a:chOff x="0" y="0"/>
            <a:chExt cx="2926080" cy="4389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260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4102103"/>
            <a:ext cx="2219963" cy="135131"/>
            <a:chOff x="0" y="0"/>
            <a:chExt cx="2959951" cy="1801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59989" cy="180213"/>
            </a:xfrm>
            <a:custGeom>
              <a:avLst/>
              <a:gdLst/>
              <a:ahLst/>
              <a:cxnLst/>
              <a:rect r="r" b="b" t="t" l="l"/>
              <a:pathLst>
                <a:path h="180213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40080" y="4334256"/>
            <a:ext cx="2011680" cy="822960"/>
            <a:chOff x="0" y="0"/>
            <a:chExt cx="268224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8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682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Ingestion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0080" y="5175504"/>
            <a:ext cx="2011680" cy="2103120"/>
            <a:chOff x="0" y="0"/>
            <a:chExt cx="2682240" cy="2804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82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135" t="0" r="-8413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68224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Citizen app, news, Reddit, traffic, weather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200400" y="2103120"/>
            <a:ext cx="1828800" cy="1828800"/>
            <a:chOff x="0" y="0"/>
            <a:chExt cx="2438400" cy="2438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0077B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200400" y="2103120"/>
            <a:ext cx="1828800" cy="1828800"/>
            <a:chOff x="0" y="0"/>
            <a:chExt cx="2438400" cy="2438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2438400" cy="2543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93030" y="2907030"/>
            <a:ext cx="458724" cy="38100"/>
            <a:chOff x="0" y="0"/>
            <a:chExt cx="611632" cy="50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1632" cy="50800"/>
            </a:xfrm>
            <a:custGeom>
              <a:avLst/>
              <a:gdLst/>
              <a:ahLst/>
              <a:cxnLst/>
              <a:rect r="r" b="b" t="t" l="l"/>
              <a:pathLst>
                <a:path h="50800" w="611632">
                  <a:moveTo>
                    <a:pt x="0" y="0"/>
                  </a:moveTo>
                  <a:lnTo>
                    <a:pt x="611632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84599" r="0" b="-184599"/>
              </a:stretch>
            </a:blipFill>
            <a:ln w="38100" cap="sq">
              <a:solidFill>
                <a:srgbClr val="44556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3017520" y="4114800"/>
            <a:ext cx="2194560" cy="3291840"/>
            <a:chOff x="0" y="0"/>
            <a:chExt cx="2926080" cy="4389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260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004823" y="4102103"/>
            <a:ext cx="2219963" cy="135131"/>
            <a:chOff x="0" y="0"/>
            <a:chExt cx="2959951" cy="1801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59989" cy="180213"/>
            </a:xfrm>
            <a:custGeom>
              <a:avLst/>
              <a:gdLst/>
              <a:ahLst/>
              <a:cxnLst/>
              <a:rect r="r" b="b" t="t" l="l"/>
              <a:pathLst>
                <a:path h="180213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3108960" y="4334256"/>
            <a:ext cx="2011680" cy="822960"/>
            <a:chOff x="0" y="0"/>
            <a:chExt cx="268224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8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682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Analysis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108960" y="5175504"/>
            <a:ext cx="2011680" cy="2103120"/>
            <a:chOff x="0" y="0"/>
            <a:chExt cx="2682240" cy="2804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82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135" t="0" r="-84135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68224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2.0 Flash: vision + text classification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669280" y="2103120"/>
            <a:ext cx="1828800" cy="1828800"/>
            <a:chOff x="0" y="0"/>
            <a:chExt cx="2438400" cy="2438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669280" y="2103120"/>
            <a:ext cx="1828800" cy="1828800"/>
            <a:chOff x="0" y="0"/>
            <a:chExt cx="2438400" cy="2438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04775"/>
              <a:ext cx="2438400" cy="2543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661910" y="2907030"/>
            <a:ext cx="458724" cy="38100"/>
            <a:chOff x="0" y="0"/>
            <a:chExt cx="611632" cy="50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1632" cy="50800"/>
            </a:xfrm>
            <a:custGeom>
              <a:avLst/>
              <a:gdLst/>
              <a:ahLst/>
              <a:cxnLst/>
              <a:rect r="r" b="b" t="t" l="l"/>
              <a:pathLst>
                <a:path h="50800" w="611632">
                  <a:moveTo>
                    <a:pt x="0" y="0"/>
                  </a:moveTo>
                  <a:lnTo>
                    <a:pt x="611632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84599" r="0" b="-184599"/>
              </a:stretch>
            </a:blipFill>
            <a:ln w="38100" cap="sq">
              <a:solidFill>
                <a:srgbClr val="44556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486400" y="4114800"/>
            <a:ext cx="2194560" cy="3291840"/>
            <a:chOff x="0" y="0"/>
            <a:chExt cx="2926080" cy="4389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260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473703" y="4102103"/>
            <a:ext cx="2219963" cy="135131"/>
            <a:chOff x="0" y="0"/>
            <a:chExt cx="2959951" cy="1801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59989" cy="180213"/>
            </a:xfrm>
            <a:custGeom>
              <a:avLst/>
              <a:gdLst/>
              <a:ahLst/>
              <a:cxnLst/>
              <a:rect r="r" b="b" t="t" l="l"/>
              <a:pathLst>
                <a:path h="180213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7B2FBE"/>
            </a:solidFill>
            <a:ln w="254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5577840" y="4334256"/>
            <a:ext cx="2011680" cy="822960"/>
            <a:chOff x="0" y="0"/>
            <a:chExt cx="268224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8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682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Event Clustering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577840" y="5175504"/>
            <a:ext cx="2011680" cy="2103120"/>
            <a:chOff x="0" y="0"/>
            <a:chExt cx="2682240" cy="28041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82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135" t="0" r="-8413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68224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SentenceTransformer MiniLM semantic fusion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138160" y="2103120"/>
            <a:ext cx="1828800" cy="1828800"/>
            <a:chOff x="0" y="0"/>
            <a:chExt cx="2438400" cy="2438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138160" y="2103120"/>
            <a:ext cx="1828800" cy="1828800"/>
            <a:chOff x="0" y="0"/>
            <a:chExt cx="2438400" cy="2438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04775"/>
              <a:ext cx="2438400" cy="2543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130790" y="2907030"/>
            <a:ext cx="458724" cy="38100"/>
            <a:chOff x="0" y="0"/>
            <a:chExt cx="611632" cy="50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11632" cy="50800"/>
            </a:xfrm>
            <a:custGeom>
              <a:avLst/>
              <a:gdLst/>
              <a:ahLst/>
              <a:cxnLst/>
              <a:rect r="r" b="b" t="t" l="l"/>
              <a:pathLst>
                <a:path h="50800" w="611632">
                  <a:moveTo>
                    <a:pt x="0" y="0"/>
                  </a:moveTo>
                  <a:lnTo>
                    <a:pt x="611632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84599" r="0" b="-184599"/>
              </a:stretch>
            </a:blipFill>
            <a:ln w="38100" cap="sq">
              <a:solidFill>
                <a:srgbClr val="445566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7955280" y="4114800"/>
            <a:ext cx="2194560" cy="3291840"/>
            <a:chOff x="0" y="0"/>
            <a:chExt cx="2926080" cy="43891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9260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942583" y="4102103"/>
            <a:ext cx="2219963" cy="135131"/>
            <a:chOff x="0" y="0"/>
            <a:chExt cx="2959951" cy="18017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59989" cy="180213"/>
            </a:xfrm>
            <a:custGeom>
              <a:avLst/>
              <a:gdLst/>
              <a:ahLst/>
              <a:cxnLst/>
              <a:rect r="r" b="b" t="t" l="l"/>
              <a:pathLst>
                <a:path h="180213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A855F7"/>
            </a:solidFill>
            <a:ln w="25400" cap="sq">
              <a:solidFill>
                <a:srgbClr val="A855F7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8046720" y="4334256"/>
            <a:ext cx="2011680" cy="822960"/>
            <a:chOff x="0" y="0"/>
            <a:chExt cx="2682240" cy="1097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68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682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Escalation Predict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046720" y="5175504"/>
            <a:ext cx="2011680" cy="2103120"/>
            <a:chOff x="0" y="0"/>
            <a:chExt cx="2682240" cy="28041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682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135" t="0" r="-84135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68224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QML hybrid: 60% quantum + 40% rule-based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607040" y="2103120"/>
            <a:ext cx="1828800" cy="1828800"/>
            <a:chOff x="0" y="0"/>
            <a:chExt cx="2438400" cy="2438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00C49A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607040" y="2103120"/>
            <a:ext cx="1828800" cy="1828800"/>
            <a:chOff x="0" y="0"/>
            <a:chExt cx="2438400" cy="2438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04775"/>
              <a:ext cx="2438400" cy="2543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599670" y="2907030"/>
            <a:ext cx="458724" cy="38100"/>
            <a:chOff x="0" y="0"/>
            <a:chExt cx="611632" cy="50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11632" cy="50800"/>
            </a:xfrm>
            <a:custGeom>
              <a:avLst/>
              <a:gdLst/>
              <a:ahLst/>
              <a:cxnLst/>
              <a:rect r="r" b="b" t="t" l="l"/>
              <a:pathLst>
                <a:path h="50800" w="611632">
                  <a:moveTo>
                    <a:pt x="0" y="0"/>
                  </a:moveTo>
                  <a:lnTo>
                    <a:pt x="611632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84599" r="0" b="-184599"/>
              </a:stretch>
            </a:blipFill>
            <a:ln w="38100" cap="sq">
              <a:solidFill>
                <a:srgbClr val="445566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0424160" y="4114800"/>
            <a:ext cx="2194560" cy="3291840"/>
            <a:chOff x="0" y="0"/>
            <a:chExt cx="2926080" cy="43891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9260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411463" y="4102103"/>
            <a:ext cx="2219963" cy="135131"/>
            <a:chOff x="0" y="0"/>
            <a:chExt cx="2959951" cy="18017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959989" cy="180213"/>
            </a:xfrm>
            <a:custGeom>
              <a:avLst/>
              <a:gdLst/>
              <a:ahLst/>
              <a:cxnLst/>
              <a:rect r="r" b="b" t="t" l="l"/>
              <a:pathLst>
                <a:path h="180213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00C49A"/>
            </a:solidFill>
            <a:ln w="25400" cap="sq">
              <a:solidFill>
                <a:srgbClr val="00C49A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0515600" y="4334256"/>
            <a:ext cx="2011680" cy="822960"/>
            <a:chOff x="0" y="0"/>
            <a:chExt cx="2682240" cy="1097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68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2682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Quantum Optimizer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515600" y="5175504"/>
            <a:ext cx="2011680" cy="2103120"/>
            <a:chOff x="0" y="0"/>
            <a:chExt cx="2682240" cy="28041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682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135" t="0" r="-84135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268224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QAOA (Qiskit) optimal responder allocation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075920" y="2103120"/>
            <a:ext cx="1828800" cy="1828800"/>
            <a:chOff x="0" y="0"/>
            <a:chExt cx="2438400" cy="24384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075920" y="2103120"/>
            <a:ext cx="1828800" cy="1828800"/>
            <a:chOff x="0" y="0"/>
            <a:chExt cx="2438400" cy="24384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04775"/>
              <a:ext cx="2438400" cy="2543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5068550" y="2907030"/>
            <a:ext cx="458724" cy="38100"/>
            <a:chOff x="0" y="0"/>
            <a:chExt cx="611632" cy="50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11632" cy="50800"/>
            </a:xfrm>
            <a:custGeom>
              <a:avLst/>
              <a:gdLst/>
              <a:ahLst/>
              <a:cxnLst/>
              <a:rect r="r" b="b" t="t" l="l"/>
              <a:pathLst>
                <a:path h="50800" w="611632">
                  <a:moveTo>
                    <a:pt x="0" y="0"/>
                  </a:moveTo>
                  <a:lnTo>
                    <a:pt x="611632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84599" r="0" b="-184599"/>
              </a:stretch>
            </a:blipFill>
            <a:ln w="38100" cap="sq">
              <a:solidFill>
                <a:srgbClr val="445566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893040" y="4114800"/>
            <a:ext cx="2194560" cy="3291840"/>
            <a:chOff x="0" y="0"/>
            <a:chExt cx="2926080" cy="43891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9260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880343" y="4102103"/>
            <a:ext cx="2219963" cy="135131"/>
            <a:chOff x="0" y="0"/>
            <a:chExt cx="2959951" cy="18017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959989" cy="180213"/>
            </a:xfrm>
            <a:custGeom>
              <a:avLst/>
              <a:gdLst/>
              <a:ahLst/>
              <a:cxnLst/>
              <a:rect r="r" b="b" t="t" l="l"/>
              <a:pathLst>
                <a:path h="180213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2ECC71"/>
            </a:solidFill>
            <a:ln w="2540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984480" y="4334256"/>
            <a:ext cx="2011680" cy="822960"/>
            <a:chOff x="0" y="0"/>
            <a:chExt cx="2682240" cy="10972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68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682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Secure Dispatch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984480" y="5175504"/>
            <a:ext cx="2011680" cy="2103120"/>
            <a:chOff x="0" y="0"/>
            <a:chExt cx="2682240" cy="28041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682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135" t="0" r="-84135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268224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Kyber512 post-quantum encrypted comms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5544800" y="2103120"/>
            <a:ext cx="1828800" cy="1828800"/>
            <a:chOff x="0" y="0"/>
            <a:chExt cx="2438400" cy="24384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5544800" y="2103120"/>
            <a:ext cx="1828800" cy="1828800"/>
            <a:chOff x="0" y="0"/>
            <a:chExt cx="2438400" cy="24384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104775"/>
              <a:ext cx="2438400" cy="2543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5361920" y="4114800"/>
            <a:ext cx="2194560" cy="3291840"/>
            <a:chOff x="0" y="0"/>
            <a:chExt cx="2926080" cy="438912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9260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5349223" y="4102103"/>
            <a:ext cx="2219963" cy="135131"/>
            <a:chOff x="0" y="0"/>
            <a:chExt cx="2959951" cy="180175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959989" cy="180213"/>
            </a:xfrm>
            <a:custGeom>
              <a:avLst/>
              <a:gdLst/>
              <a:ahLst/>
              <a:cxnLst/>
              <a:rect r="r" b="b" t="t" l="l"/>
              <a:pathLst>
                <a:path h="180213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39C12"/>
            </a:solidFill>
            <a:ln w="25400" cap="sq">
              <a:solidFill>
                <a:srgbClr val="F39C12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5453360" y="4334256"/>
            <a:ext cx="2011680" cy="822960"/>
            <a:chOff x="0" y="0"/>
            <a:chExt cx="2682240" cy="10972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68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6822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Dashboard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5453360" y="5175504"/>
            <a:ext cx="2011680" cy="2103120"/>
            <a:chOff x="0" y="0"/>
            <a:chExt cx="2682240" cy="28041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682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135" t="0" r="-84135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682240" cy="2842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 app with real-time map + alerts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529590" y="8576310"/>
            <a:ext cx="17228820" cy="1135380"/>
            <a:chOff x="0" y="0"/>
            <a:chExt cx="22971760" cy="15138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2971761" cy="1513840"/>
            </a:xfrm>
            <a:custGeom>
              <a:avLst/>
              <a:gdLst/>
              <a:ahLst/>
              <a:cxnLst/>
              <a:rect r="r" b="b" t="t" l="l"/>
              <a:pathLst>
                <a:path h="1513840" w="22971761">
                  <a:moveTo>
                    <a:pt x="0" y="252349"/>
                  </a:moveTo>
                  <a:cubicBezTo>
                    <a:pt x="0" y="112903"/>
                    <a:pt x="112903" y="0"/>
                    <a:pt x="252349" y="0"/>
                  </a:cubicBezTo>
                  <a:lnTo>
                    <a:pt x="22719412" y="0"/>
                  </a:lnTo>
                  <a:cubicBezTo>
                    <a:pt x="22858730" y="0"/>
                    <a:pt x="22971761" y="112903"/>
                    <a:pt x="22971761" y="252349"/>
                  </a:cubicBezTo>
                  <a:lnTo>
                    <a:pt x="22971761" y="1261491"/>
                  </a:lnTo>
                  <a:cubicBezTo>
                    <a:pt x="22971761" y="1400810"/>
                    <a:pt x="22858857" y="1513840"/>
                    <a:pt x="22719412" y="1513840"/>
                  </a:cubicBezTo>
                  <a:lnTo>
                    <a:pt x="252349" y="1513840"/>
                  </a:lnTo>
                  <a:cubicBezTo>
                    <a:pt x="112903" y="1513840"/>
                    <a:pt x="0" y="1400937"/>
                    <a:pt x="0" y="1261491"/>
                  </a:cubicBezTo>
                  <a:close/>
                </a:path>
              </a:pathLst>
            </a:custGeom>
            <a:solidFill>
              <a:srgbClr val="1A0A2E"/>
            </a:solid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127" id="127"/>
          <p:cNvGrpSpPr/>
          <p:nvPr/>
        </p:nvGrpSpPr>
        <p:grpSpPr>
          <a:xfrm rot="0">
            <a:off x="914400" y="8741664"/>
            <a:ext cx="16459200" cy="731520"/>
            <a:chOff x="0" y="0"/>
            <a:chExt cx="21945600" cy="97536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55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⚛️  Quantum-enhanced components: Steps 4 &amp; 5 use PennyLane VQC (4-qubit) + Qiskit QAOA for prediction and allocation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472309"/>
            </a:xfrm>
            <a:custGeom>
              <a:avLst/>
              <a:gdLst/>
              <a:ahLst/>
              <a:cxnLst/>
              <a:rect r="r" b="b" t="t" l="l"/>
              <a:pathLst>
                <a:path h="24723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0A1628"/>
            </a:solidFill>
            <a:ln w="25400" cap="sq">
              <a:solidFill>
                <a:srgbClr val="0A162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Citizens: Report, Receive, Stay Safe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1600" y="2011680"/>
            <a:ext cx="1828800" cy="1828800"/>
            <a:chOff x="0" y="0"/>
            <a:chExt cx="2438400" cy="243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E6394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71600" y="2011680"/>
            <a:ext cx="1828800" cy="1828800"/>
            <a:chOff x="0" y="0"/>
            <a:chExt cx="2438400" cy="2438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438400" cy="2524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⚠️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364230" y="2907030"/>
            <a:ext cx="952500" cy="38100"/>
            <a:chOff x="0" y="0"/>
            <a:chExt cx="1270000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0000" cy="50800"/>
            </a:xfrm>
            <a:custGeom>
              <a:avLst/>
              <a:gdLst/>
              <a:ahLst/>
              <a:cxnLst/>
              <a:rect r="r" b="b" t="t" l="l"/>
              <a:pathLst>
                <a:path h="50800" w="1270000">
                  <a:moveTo>
                    <a:pt x="0" y="0"/>
                  </a:moveTo>
                  <a:lnTo>
                    <a:pt x="12700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  <a:ln w="38100" cap="sq">
              <a:solidFill>
                <a:srgbClr val="AABBCC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4114800"/>
            <a:ext cx="3108960" cy="2377440"/>
            <a:chOff x="0" y="0"/>
            <a:chExt cx="4145280" cy="3169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8823" y="4102103"/>
            <a:ext cx="3134363" cy="135131"/>
            <a:chOff x="0" y="0"/>
            <a:chExt cx="4179151" cy="1801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79189" cy="180213"/>
            </a:xfrm>
            <a:custGeom>
              <a:avLst/>
              <a:gdLst/>
              <a:ahLst/>
              <a:cxnLst/>
              <a:rect r="r" b="b" t="t" l="l"/>
              <a:pathLst>
                <a:path h="18021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E63946"/>
            </a:solidFill>
            <a:ln w="25400" cap="sq">
              <a:solidFill>
                <a:srgbClr val="E6394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77824" y="4297680"/>
            <a:ext cx="2834640" cy="822960"/>
            <a:chOff x="0" y="0"/>
            <a:chExt cx="377952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7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15" r="0" b="-171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779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Something happens nearby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7824" y="5120640"/>
            <a:ext cx="2834640" cy="1188720"/>
            <a:chOff x="0" y="0"/>
            <a:chExt cx="3779520" cy="1584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79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7795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Flood, crash, protest, fire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09744" y="2011680"/>
            <a:ext cx="1828800" cy="1828800"/>
            <a:chOff x="0" y="0"/>
            <a:chExt cx="2438400" cy="2438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E07A0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809744" y="2011680"/>
            <a:ext cx="1828800" cy="1828800"/>
            <a:chOff x="0" y="0"/>
            <a:chExt cx="2438400" cy="2438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2438400" cy="2524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📡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02374" y="2907030"/>
            <a:ext cx="952500" cy="38100"/>
            <a:chOff x="0" y="0"/>
            <a:chExt cx="1270000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0000" cy="50800"/>
            </a:xfrm>
            <a:custGeom>
              <a:avLst/>
              <a:gdLst/>
              <a:ahLst/>
              <a:cxnLst/>
              <a:rect r="r" b="b" t="t" l="l"/>
              <a:pathLst>
                <a:path h="50800" w="1270000">
                  <a:moveTo>
                    <a:pt x="0" y="0"/>
                  </a:moveTo>
                  <a:lnTo>
                    <a:pt x="12700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  <a:ln w="38100" cap="sq">
              <a:solidFill>
                <a:srgbClr val="AABBCC"/>
              </a:solidFill>
              <a:prstDash val="dash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4169664" y="4114800"/>
            <a:ext cx="3108960" cy="2377440"/>
            <a:chOff x="0" y="0"/>
            <a:chExt cx="4145280" cy="3169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156967" y="4102103"/>
            <a:ext cx="3134363" cy="135131"/>
            <a:chOff x="0" y="0"/>
            <a:chExt cx="4179151" cy="1801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79189" cy="180213"/>
            </a:xfrm>
            <a:custGeom>
              <a:avLst/>
              <a:gdLst/>
              <a:ahLst/>
              <a:cxnLst/>
              <a:rect r="r" b="b" t="t" l="l"/>
              <a:pathLst>
                <a:path h="18021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E07A00"/>
            </a:solidFill>
            <a:ln w="25400" cap="sq">
              <a:solidFill>
                <a:srgbClr val="E07A0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315968" y="4297680"/>
            <a:ext cx="2834640" cy="822960"/>
            <a:chOff x="0" y="0"/>
            <a:chExt cx="377952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7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15" r="0" b="-1711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779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Multiple signals detected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315968" y="5120640"/>
            <a:ext cx="2834640" cy="1188720"/>
            <a:chOff x="0" y="0"/>
            <a:chExt cx="3779520" cy="1584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79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7795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Reddit, Twitter, BBMP, citizen report — all aggregated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47888" y="2011680"/>
            <a:ext cx="1828800" cy="1828800"/>
            <a:chOff x="0" y="0"/>
            <a:chExt cx="2438400" cy="2438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0077B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247888" y="2011680"/>
            <a:ext cx="1828800" cy="1828800"/>
            <a:chOff x="0" y="0"/>
            <a:chExt cx="2438400" cy="2438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85725"/>
              <a:ext cx="2438400" cy="2524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🤖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240518" y="2907030"/>
            <a:ext cx="952500" cy="38100"/>
            <a:chOff x="0" y="0"/>
            <a:chExt cx="1270000" cy="50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70000" cy="50800"/>
            </a:xfrm>
            <a:custGeom>
              <a:avLst/>
              <a:gdLst/>
              <a:ahLst/>
              <a:cxnLst/>
              <a:rect r="r" b="b" t="t" l="l"/>
              <a:pathLst>
                <a:path h="50800" w="1270000">
                  <a:moveTo>
                    <a:pt x="0" y="0"/>
                  </a:moveTo>
                  <a:lnTo>
                    <a:pt x="12700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  <a:ln w="38100" cap="sq">
              <a:solidFill>
                <a:srgbClr val="AABBCC"/>
              </a:solidFill>
              <a:prstDash val="dash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7607808" y="4114800"/>
            <a:ext cx="3108960" cy="2377440"/>
            <a:chOff x="0" y="0"/>
            <a:chExt cx="4145280" cy="31699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595111" y="4102103"/>
            <a:ext cx="3134363" cy="135131"/>
            <a:chOff x="0" y="0"/>
            <a:chExt cx="4179151" cy="18017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79189" cy="180213"/>
            </a:xfrm>
            <a:custGeom>
              <a:avLst/>
              <a:gdLst/>
              <a:ahLst/>
              <a:cxnLst/>
              <a:rect r="r" b="b" t="t" l="l"/>
              <a:pathLst>
                <a:path h="18021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7754112" y="4297680"/>
            <a:ext cx="2834640" cy="822960"/>
            <a:chOff x="0" y="0"/>
            <a:chExt cx="377952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7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15" r="0" b="-1711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779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 scores severity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754112" y="5120640"/>
            <a:ext cx="2834640" cy="1188720"/>
            <a:chOff x="0" y="0"/>
            <a:chExt cx="3779520" cy="15849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779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7795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Deduplicates, classifies, extracts location &amp; incident type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686032" y="2011680"/>
            <a:ext cx="1828800" cy="1828800"/>
            <a:chOff x="0" y="0"/>
            <a:chExt cx="2438400" cy="2438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686032" y="2011680"/>
            <a:ext cx="1828800" cy="1828800"/>
            <a:chOff x="0" y="0"/>
            <a:chExt cx="2438400" cy="2438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85725"/>
              <a:ext cx="2438400" cy="2524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⚛️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678662" y="2907030"/>
            <a:ext cx="952500" cy="38100"/>
            <a:chOff x="0" y="0"/>
            <a:chExt cx="1270000" cy="50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70000" cy="50800"/>
            </a:xfrm>
            <a:custGeom>
              <a:avLst/>
              <a:gdLst/>
              <a:ahLst/>
              <a:cxnLst/>
              <a:rect r="r" b="b" t="t" l="l"/>
              <a:pathLst>
                <a:path h="50800" w="1270000">
                  <a:moveTo>
                    <a:pt x="0" y="0"/>
                  </a:moveTo>
                  <a:lnTo>
                    <a:pt x="12700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  <a:ln w="38100" cap="sq">
              <a:solidFill>
                <a:srgbClr val="AABBCC"/>
              </a:solidFill>
              <a:prstDash val="dash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1045952" y="4114800"/>
            <a:ext cx="3108960" cy="2377440"/>
            <a:chOff x="0" y="0"/>
            <a:chExt cx="4145280" cy="31699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033255" y="4102103"/>
            <a:ext cx="3134363" cy="135131"/>
            <a:chOff x="0" y="0"/>
            <a:chExt cx="4179151" cy="18017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179189" cy="180213"/>
            </a:xfrm>
            <a:custGeom>
              <a:avLst/>
              <a:gdLst/>
              <a:ahLst/>
              <a:cxnLst/>
              <a:rect r="r" b="b" t="t" l="l"/>
              <a:pathLst>
                <a:path h="18021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7B2FBE"/>
            </a:solidFill>
            <a:ln w="254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1192256" y="4297680"/>
            <a:ext cx="2834640" cy="822960"/>
            <a:chOff x="0" y="0"/>
            <a:chExt cx="377952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77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15" r="0" b="-1711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3779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QNN checks history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192256" y="5120640"/>
            <a:ext cx="2834640" cy="1188720"/>
            <a:chOff x="0" y="0"/>
            <a:chExt cx="3779520" cy="15849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779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7795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Queries 18yr crash/flood data for this exact area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124176" y="2011680"/>
            <a:ext cx="1828800" cy="1828800"/>
            <a:chOff x="0" y="0"/>
            <a:chExt cx="2438400" cy="2438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5124176" y="2011680"/>
            <a:ext cx="1828800" cy="1828800"/>
            <a:chOff x="0" y="0"/>
            <a:chExt cx="2438400" cy="2438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85725"/>
              <a:ext cx="2438400" cy="2524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🔔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484096" y="4114800"/>
            <a:ext cx="3108960" cy="2377440"/>
            <a:chOff x="0" y="0"/>
            <a:chExt cx="4145280" cy="31699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4471399" y="4102103"/>
            <a:ext cx="3134363" cy="135131"/>
            <a:chOff x="0" y="0"/>
            <a:chExt cx="4179151" cy="18017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179189" cy="180213"/>
            </a:xfrm>
            <a:custGeom>
              <a:avLst/>
              <a:gdLst/>
              <a:ahLst/>
              <a:cxnLst/>
              <a:rect r="r" b="b" t="t" l="l"/>
              <a:pathLst>
                <a:path h="180213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2ECC71"/>
            </a:solidFill>
            <a:ln w="2540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4630400" y="4297680"/>
            <a:ext cx="2834640" cy="822960"/>
            <a:chOff x="0" y="0"/>
            <a:chExt cx="3779520" cy="10972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77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15" r="0" b="-1711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779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get notified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630400" y="5120640"/>
            <a:ext cx="2834640" cy="1188720"/>
            <a:chOff x="0" y="0"/>
            <a:chExt cx="3779520" cy="15849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779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4" t="0" r="-3804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37795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Push alert based on your GPS location — before it escalates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31520" y="6766560"/>
            <a:ext cx="8412480" cy="3017520"/>
            <a:chOff x="0" y="0"/>
            <a:chExt cx="11216640" cy="40233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2166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05840" y="6986016"/>
            <a:ext cx="7863840" cy="694944"/>
            <a:chOff x="0" y="0"/>
            <a:chExt cx="1048512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88" r="0" b="-17048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10485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E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📸  Image Reporting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05840" y="7680960"/>
            <a:ext cx="7863840" cy="1920240"/>
            <a:chOff x="0" y="0"/>
            <a:chExt cx="10485120" cy="25603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485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5" r="0" b="-2979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0485120" cy="259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ABB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uploads a photo → Google Vision API analyzes → auto-generates incident summary → fed into the pipeline as a live data point. Same QNN + severity flow applies.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01200" y="6766560"/>
            <a:ext cx="8412480" cy="3017520"/>
            <a:chOff x="0" y="0"/>
            <a:chExt cx="11216640" cy="40233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2166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875520" y="6986016"/>
            <a:ext cx="7863840" cy="694944"/>
            <a:chOff x="0" y="0"/>
            <a:chExt cx="10485120" cy="92659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88" r="0" b="-170488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57150"/>
              <a:ext cx="10485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E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🎙️  SOS Voice Reporting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875520" y="7680960"/>
            <a:ext cx="7863840" cy="1920240"/>
            <a:chOff x="0" y="0"/>
            <a:chExt cx="10485120" cy="25603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485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5" r="0" b="-2979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0485120" cy="259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ABB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narrates an incident by voice → AI agent parses severity and location → checks area history → dispatches nearest police/ambulance/fire unit. Numbers shown on screen.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472309"/>
            </a:xfrm>
            <a:custGeom>
              <a:avLst/>
              <a:gdLst/>
              <a:ahLst/>
              <a:cxnLst/>
              <a:rect r="r" b="b" t="t" l="l"/>
              <a:pathLst>
                <a:path h="24723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0A1628"/>
            </a:solidFill>
            <a:ln w="25400" cap="sq">
              <a:solidFill>
                <a:srgbClr val="0A162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9144000" cy="1097280"/>
            <a:chOff x="0" y="0"/>
            <a:chExt cx="121920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121920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548640"/>
            <a:ext cx="8229600" cy="822960"/>
            <a:chOff x="0" y="0"/>
            <a:chExt cx="10972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728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Production-ready. Quantum-enhanced. Future-proof.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2011680"/>
            <a:ext cx="8321040" cy="3749040"/>
            <a:chOff x="0" y="0"/>
            <a:chExt cx="11094720" cy="499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94720" cy="4998720"/>
            </a:xfrm>
            <a:custGeom>
              <a:avLst/>
              <a:gdLst/>
              <a:ahLst/>
              <a:cxnLst/>
              <a:rect r="r" b="b" t="t" l="l"/>
              <a:pathLst>
                <a:path h="49987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35943" y="1998983"/>
            <a:ext cx="8346443" cy="793499"/>
            <a:chOff x="0" y="0"/>
            <a:chExt cx="11128591" cy="1057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62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103120"/>
            <a:ext cx="7315200" cy="621792"/>
            <a:chOff x="0" y="0"/>
            <a:chExt cx="9753600" cy="8290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829056"/>
            </a:xfrm>
            <a:custGeom>
              <a:avLst/>
              <a:gdLst/>
              <a:ahLst/>
              <a:cxnLst/>
              <a:rect r="r" b="b" t="t" l="l"/>
              <a:pathLst>
                <a:path h="82905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235" r="0" b="-17923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75360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2962656"/>
            <a:ext cx="7680960" cy="621792"/>
            <a:chOff x="0" y="0"/>
            <a:chExt cx="1024128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 + Expo 53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3621024"/>
            <a:ext cx="7680960" cy="621792"/>
            <a:chOff x="0" y="0"/>
            <a:chExt cx="10241280" cy="8290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 Router (file-based nav)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4279392"/>
            <a:ext cx="7680960" cy="621792"/>
            <a:chOff x="0" y="0"/>
            <a:chExt cx="10241280" cy="8290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 Location + ImagePicker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4937760"/>
            <a:ext cx="7680960" cy="621792"/>
            <a:chOff x="0" y="0"/>
            <a:chExt cx="10241280" cy="8290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Leaflet WebView (live map)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18320" y="2011680"/>
            <a:ext cx="8321040" cy="3749040"/>
            <a:chOff x="0" y="0"/>
            <a:chExt cx="11094720" cy="4998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094720" cy="4998720"/>
            </a:xfrm>
            <a:custGeom>
              <a:avLst/>
              <a:gdLst/>
              <a:ahLst/>
              <a:cxnLst/>
              <a:rect r="r" b="b" t="t" l="l"/>
              <a:pathLst>
                <a:path h="49987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05623" y="1998983"/>
            <a:ext cx="8346443" cy="793499"/>
            <a:chOff x="0" y="0"/>
            <a:chExt cx="11128591" cy="10579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12862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692640" y="2103120"/>
            <a:ext cx="7315200" cy="621792"/>
            <a:chOff x="0" y="0"/>
            <a:chExt cx="9753600" cy="8290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0" cy="829056"/>
            </a:xfrm>
            <a:custGeom>
              <a:avLst/>
              <a:gdLst/>
              <a:ahLst/>
              <a:cxnLst/>
              <a:rect r="r" b="b" t="t" l="l"/>
              <a:pathLst>
                <a:path h="82905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235" r="0" b="-17923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975360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/ AI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92640" y="2962656"/>
            <a:ext cx="7680960" cy="621792"/>
            <a:chOff x="0" y="0"/>
            <a:chExt cx="10241280" cy="8290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7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FastAPI + Python 3.12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92640" y="3621024"/>
            <a:ext cx="7680960" cy="621792"/>
            <a:chOff x="0" y="0"/>
            <a:chExt cx="10241280" cy="8290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7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Gemini 2.0 Flash (Vision + Text)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92640" y="4279392"/>
            <a:ext cx="7680960" cy="621792"/>
            <a:chOff x="0" y="0"/>
            <a:chExt cx="10241280" cy="8290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7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SentenceTransformer MiniLM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92640" y="4937760"/>
            <a:ext cx="7680960" cy="621792"/>
            <a:chOff x="0" y="0"/>
            <a:chExt cx="10241280" cy="8290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77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Neo4j Graph Database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48640" y="6035040"/>
            <a:ext cx="8321040" cy="3749040"/>
            <a:chOff x="0" y="0"/>
            <a:chExt cx="11094720" cy="4998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094720" cy="4998720"/>
            </a:xfrm>
            <a:custGeom>
              <a:avLst/>
              <a:gdLst/>
              <a:ahLst/>
              <a:cxnLst/>
              <a:rect r="r" b="b" t="t" l="l"/>
              <a:pathLst>
                <a:path h="49987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35943" y="6022343"/>
            <a:ext cx="8346443" cy="793499"/>
            <a:chOff x="0" y="0"/>
            <a:chExt cx="11128591" cy="105799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12862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7B2FBE"/>
            </a:solidFill>
            <a:ln w="254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6126480"/>
            <a:ext cx="7315200" cy="621792"/>
            <a:chOff x="0" y="0"/>
            <a:chExt cx="9753600" cy="8290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53600" cy="829056"/>
            </a:xfrm>
            <a:custGeom>
              <a:avLst/>
              <a:gdLst/>
              <a:ahLst/>
              <a:cxnLst/>
              <a:rect r="r" b="b" t="t" l="l"/>
              <a:pathLst>
                <a:path h="82905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235" r="0" b="-17923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975360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Quantum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22960" y="6986016"/>
            <a:ext cx="7680960" cy="621792"/>
            <a:chOff x="0" y="0"/>
            <a:chExt cx="10241280" cy="8290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PennyLane (VQC inference)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7644384"/>
            <a:ext cx="7680960" cy="621792"/>
            <a:chOff x="0" y="0"/>
            <a:chExt cx="10241280" cy="8290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Qiskit + qiskit-optimization (QAOA)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22960" y="8302752"/>
            <a:ext cx="7680960" cy="621792"/>
            <a:chOff x="0" y="0"/>
            <a:chExt cx="10241280" cy="8290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4-qubit variational circuit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8961120"/>
            <a:ext cx="7680960" cy="621792"/>
            <a:chOff x="0" y="0"/>
            <a:chExt cx="10241280" cy="8290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COBYLA classical optimizer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418320" y="6035040"/>
            <a:ext cx="8321040" cy="3749040"/>
            <a:chOff x="0" y="0"/>
            <a:chExt cx="11094720" cy="49987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094720" cy="4998720"/>
            </a:xfrm>
            <a:custGeom>
              <a:avLst/>
              <a:gdLst/>
              <a:ahLst/>
              <a:cxnLst/>
              <a:rect r="r" b="b" t="t" l="l"/>
              <a:pathLst>
                <a:path h="49987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405623" y="6022343"/>
            <a:ext cx="8346443" cy="793499"/>
            <a:chOff x="0" y="0"/>
            <a:chExt cx="11128591" cy="105799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12862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1128629">
                  <a:moveTo>
                    <a:pt x="0" y="0"/>
                  </a:moveTo>
                  <a:lnTo>
                    <a:pt x="11128629" y="0"/>
                  </a:lnTo>
                  <a:lnTo>
                    <a:pt x="1112862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2ECC71"/>
            </a:solidFill>
            <a:ln w="2540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692640" y="6126480"/>
            <a:ext cx="7315200" cy="621792"/>
            <a:chOff x="0" y="0"/>
            <a:chExt cx="9753600" cy="8290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753600" cy="829056"/>
            </a:xfrm>
            <a:custGeom>
              <a:avLst/>
              <a:gdLst/>
              <a:ahLst/>
              <a:cxnLst/>
              <a:rect r="r" b="b" t="t" l="l"/>
              <a:pathLst>
                <a:path h="82905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235" r="0" b="-17923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975360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&amp; Data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92640" y="6986016"/>
            <a:ext cx="7680960" cy="621792"/>
            <a:chOff x="0" y="0"/>
            <a:chExt cx="10241280" cy="8290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pqcrypto Kyber512 (NIST 2024)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92640" y="7644384"/>
            <a:ext cx="7680960" cy="621792"/>
            <a:chOff x="0" y="0"/>
            <a:chExt cx="10241280" cy="8290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Open-Meteo API (weather)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92640" y="8302752"/>
            <a:ext cx="7680960" cy="621792"/>
            <a:chOff x="0" y="0"/>
            <a:chExt cx="10241280" cy="8290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BTP OpenCity 2021–2025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92640" y="8961120"/>
            <a:ext cx="7680960" cy="621792"/>
            <a:chOff x="0" y="0"/>
            <a:chExt cx="10241280" cy="82905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97" r="0" b="-19069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0241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200">
                  <a:solidFill>
                    <a:srgbClr val="0A16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Karnataka Rainfall 2025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99723" cy="10312403"/>
            <a:chOff x="0" y="0"/>
            <a:chExt cx="39963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66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399669">
                  <a:moveTo>
                    <a:pt x="0" y="0"/>
                  </a:moveTo>
                  <a:lnTo>
                    <a:pt x="399669" y="0"/>
                  </a:lnTo>
                  <a:lnTo>
                    <a:pt x="39966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2ECC71"/>
            </a:solidFill>
            <a:ln w="2540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402336"/>
            <a:ext cx="16824960" cy="1005840"/>
            <a:chOff x="0" y="0"/>
            <a:chExt cx="224332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243328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 Matters — The Impact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280160"/>
            <a:ext cx="16459200" cy="694944"/>
            <a:chOff x="0" y="0"/>
            <a:chExt cx="219456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ECC7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minute of response time saved is a life closer to safety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2286000"/>
            <a:ext cx="8229600" cy="3383280"/>
            <a:chOff x="0" y="0"/>
            <a:chExt cx="10972800" cy="451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8823" y="2273303"/>
            <a:ext cx="8255003" cy="153419"/>
            <a:chOff x="0" y="0"/>
            <a:chExt cx="11006671" cy="2045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709" cy="204597"/>
            </a:xfrm>
            <a:custGeom>
              <a:avLst/>
              <a:gdLst/>
              <a:ahLst/>
              <a:cxnLst/>
              <a:rect r="r" b="b" t="t" l="l"/>
              <a:pathLst>
                <a:path h="204597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E63946"/>
            </a:solidFill>
            <a:ln w="25400" cap="sq">
              <a:solidFill>
                <a:srgbClr val="E6394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2505456"/>
            <a:ext cx="7680960" cy="822960"/>
            <a:chOff x="0" y="0"/>
            <a:chExt cx="10241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02412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E639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 min → 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5840" y="3291840"/>
            <a:ext cx="7680960" cy="548640"/>
            <a:chOff x="0" y="0"/>
            <a:chExt cx="1024128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Target: sub-8 min response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3840480"/>
            <a:ext cx="7680960" cy="1609344"/>
            <a:chOff x="0" y="0"/>
            <a:chExt cx="10241280" cy="2145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2412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QAOA dispatch closes the gap by eliminating manual unit assignment and choosing the optimal responder combination instantly.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18320" y="2286000"/>
            <a:ext cx="8229600" cy="3383280"/>
            <a:chOff x="0" y="0"/>
            <a:chExt cx="10972800" cy="451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405623" y="2273303"/>
            <a:ext cx="8255003" cy="153419"/>
            <a:chOff x="0" y="0"/>
            <a:chExt cx="11006671" cy="2045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06709" cy="204597"/>
            </a:xfrm>
            <a:custGeom>
              <a:avLst/>
              <a:gdLst/>
              <a:ahLst/>
              <a:cxnLst/>
              <a:rect r="r" b="b" t="t" l="l"/>
              <a:pathLst>
                <a:path h="204597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692640" y="2505456"/>
            <a:ext cx="7680960" cy="822960"/>
            <a:chOff x="0" y="0"/>
            <a:chExt cx="1024128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02412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silos → 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92640" y="3291840"/>
            <a:ext cx="7680960" cy="548640"/>
            <a:chOff x="0" y="0"/>
            <a:chExt cx="1024128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Unified signal from fragmented data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92640" y="3840480"/>
            <a:ext cx="7680960" cy="1609344"/>
            <a:chOff x="0" y="0"/>
            <a:chExt cx="10241280" cy="21457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12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2412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WhatsApp, Reddit, 112, BBMP — all fused into a single verified incident. No more duplicate 'unknown' events flooding operators.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31520" y="5943600"/>
            <a:ext cx="8229600" cy="3383280"/>
            <a:chOff x="0" y="0"/>
            <a:chExt cx="10972800" cy="4511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18823" y="5930903"/>
            <a:ext cx="8255003" cy="153419"/>
            <a:chOff x="0" y="0"/>
            <a:chExt cx="11006671" cy="2045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006709" cy="204597"/>
            </a:xfrm>
            <a:custGeom>
              <a:avLst/>
              <a:gdLst/>
              <a:ahLst/>
              <a:cxnLst/>
              <a:rect r="r" b="b" t="t" l="l"/>
              <a:pathLst>
                <a:path h="204597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A855F7"/>
            </a:solidFill>
            <a:ln w="25400" cap="sq">
              <a:solidFill>
                <a:srgbClr val="A855F7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05840" y="6163056"/>
            <a:ext cx="7680960" cy="822960"/>
            <a:chOff x="0" y="0"/>
            <a:chExt cx="102412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102412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Reactive → Proactive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05840" y="6949440"/>
            <a:ext cx="7680960" cy="548640"/>
            <a:chOff x="0" y="0"/>
            <a:chExt cx="1024128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 before escalation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05840" y="7498080"/>
            <a:ext cx="7680960" cy="1609344"/>
            <a:chOff x="0" y="0"/>
            <a:chExt cx="10241280" cy="21457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2412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QNN checks 18 years of area history. If this location has flooded 12 times after heavy rain, you get warned before water rises.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18320" y="5943600"/>
            <a:ext cx="8229600" cy="3383280"/>
            <a:chOff x="0" y="0"/>
            <a:chExt cx="10972800" cy="45110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405623" y="5930903"/>
            <a:ext cx="8255003" cy="153419"/>
            <a:chOff x="0" y="0"/>
            <a:chExt cx="11006671" cy="20455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06709" cy="204597"/>
            </a:xfrm>
            <a:custGeom>
              <a:avLst/>
              <a:gdLst/>
              <a:ahLst/>
              <a:cxnLst/>
              <a:rect r="r" b="b" t="t" l="l"/>
              <a:pathLst>
                <a:path h="204597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F39C12"/>
            </a:solidFill>
            <a:ln w="25400" cap="sq">
              <a:solidFill>
                <a:srgbClr val="F39C12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692640" y="6163056"/>
            <a:ext cx="7680960" cy="822960"/>
            <a:chOff x="0" y="0"/>
            <a:chExt cx="1024128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102412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Universal access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92640" y="6949440"/>
            <a:ext cx="7680960" cy="548640"/>
            <a:chOff x="0" y="0"/>
            <a:chExt cx="1024128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Any citizen can report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92640" y="7498080"/>
            <a:ext cx="7680960" cy="1609344"/>
            <a:chOff x="0" y="0"/>
            <a:chExt cx="10241280" cy="21457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2412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Photo, voice, or text. Google Vision and LLM agents process every report equally — lowering the barrier to first alert.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5131"/>
            <a:chOff x="0" y="0"/>
            <a:chExt cx="24417871" cy="180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0213"/>
            </a:xfrm>
            <a:custGeom>
              <a:avLst/>
              <a:gdLst/>
              <a:ahLst/>
              <a:cxnLst/>
              <a:rect r="r" b="b" t="t" l="l"/>
              <a:pathLst>
                <a:path h="18021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0164575"/>
            <a:ext cx="18313403" cy="135131"/>
            <a:chOff x="0" y="0"/>
            <a:chExt cx="24417871" cy="180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180213"/>
            </a:xfrm>
            <a:custGeom>
              <a:avLst/>
              <a:gdLst/>
              <a:ahLst/>
              <a:cxnLst/>
              <a:rect r="r" b="b" t="t" l="l"/>
              <a:pathLst>
                <a:path h="18021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1463040"/>
            <a:ext cx="16459200" cy="2194560"/>
            <a:chOff x="0" y="0"/>
            <a:chExt cx="21945600" cy="2926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94560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60"/>
                </a:lnSpc>
              </a:pPr>
              <a:r>
                <a:rPr lang="en-US" sz="12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City Samachaar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3749040"/>
            <a:ext cx="16459200" cy="1005840"/>
            <a:chOff x="0" y="0"/>
            <a:chExt cx="2194560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19456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city. One signal. Zero delays.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07030" y="5010150"/>
            <a:ext cx="1866900" cy="1866900"/>
            <a:chOff x="0" y="0"/>
            <a:chExt cx="2489200" cy="248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8920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489200">
                  <a:moveTo>
                    <a:pt x="0" y="1244600"/>
                  </a:moveTo>
                  <a:cubicBezTo>
                    <a:pt x="0" y="557276"/>
                    <a:pt x="557276" y="0"/>
                    <a:pt x="1244600" y="0"/>
                  </a:cubicBezTo>
                  <a:cubicBezTo>
                    <a:pt x="1931924" y="0"/>
                    <a:pt x="2489200" y="557276"/>
                    <a:pt x="2489200" y="1244600"/>
                  </a:cubicBezTo>
                  <a:cubicBezTo>
                    <a:pt x="2489200" y="1931924"/>
                    <a:pt x="1931924" y="2489200"/>
                    <a:pt x="1244600" y="2489200"/>
                  </a:cubicBezTo>
                  <a:cubicBezTo>
                    <a:pt x="557276" y="2489200"/>
                    <a:pt x="0" y="1931924"/>
                    <a:pt x="0" y="1244600"/>
                  </a:cubicBezTo>
                  <a:close/>
                </a:path>
              </a:pathLst>
            </a:custGeom>
            <a:solidFill>
              <a:srgbClr val="1A2744"/>
            </a:solidFill>
            <a:ln w="381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926080" y="5029200"/>
            <a:ext cx="1828800" cy="1828800"/>
            <a:chOff x="0" y="0"/>
            <a:chExt cx="2438400" cy="243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2438400" cy="2543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🏙️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28800" y="7095744"/>
            <a:ext cx="4023360" cy="640080"/>
            <a:chOff x="0" y="0"/>
            <a:chExt cx="536448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Citizens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7717536"/>
            <a:ext cx="4023360" cy="1005840"/>
            <a:chOff x="0" y="0"/>
            <a:chExt cx="536448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3644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Preemptive alerts before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disasters escalate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27670" y="5010150"/>
            <a:ext cx="1866900" cy="1866900"/>
            <a:chOff x="0" y="0"/>
            <a:chExt cx="2489200" cy="248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8920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489200">
                  <a:moveTo>
                    <a:pt x="0" y="1244600"/>
                  </a:moveTo>
                  <a:cubicBezTo>
                    <a:pt x="0" y="557276"/>
                    <a:pt x="557276" y="0"/>
                    <a:pt x="1244600" y="0"/>
                  </a:cubicBezTo>
                  <a:cubicBezTo>
                    <a:pt x="1931924" y="0"/>
                    <a:pt x="2489200" y="557276"/>
                    <a:pt x="2489200" y="1244600"/>
                  </a:cubicBezTo>
                  <a:cubicBezTo>
                    <a:pt x="2489200" y="1931924"/>
                    <a:pt x="1931924" y="2489200"/>
                    <a:pt x="1244600" y="2489200"/>
                  </a:cubicBezTo>
                  <a:cubicBezTo>
                    <a:pt x="557276" y="2489200"/>
                    <a:pt x="0" y="1931924"/>
                    <a:pt x="0" y="1244600"/>
                  </a:cubicBezTo>
                  <a:close/>
                </a:path>
              </a:pathLst>
            </a:custGeom>
            <a:solidFill>
              <a:srgbClr val="1A2744"/>
            </a:solidFill>
            <a:ln w="381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046720" y="5029200"/>
            <a:ext cx="1828800" cy="1828800"/>
            <a:chOff x="0" y="0"/>
            <a:chExt cx="2438400" cy="2438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04775"/>
              <a:ext cx="2438400" cy="2543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🚑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949440" y="7095744"/>
            <a:ext cx="4023360" cy="640080"/>
            <a:chOff x="0" y="0"/>
            <a:chExt cx="536448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Responders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49440" y="7717536"/>
            <a:ext cx="4023360" cy="1005840"/>
            <a:chOff x="0" y="0"/>
            <a:chExt cx="536448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3644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Quantum-optimal dispatch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under a second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148310" y="5010150"/>
            <a:ext cx="1866900" cy="1866900"/>
            <a:chOff x="0" y="0"/>
            <a:chExt cx="2489200" cy="248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8920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489200">
                  <a:moveTo>
                    <a:pt x="0" y="1244600"/>
                  </a:moveTo>
                  <a:cubicBezTo>
                    <a:pt x="0" y="557276"/>
                    <a:pt x="557276" y="0"/>
                    <a:pt x="1244600" y="0"/>
                  </a:cubicBezTo>
                  <a:cubicBezTo>
                    <a:pt x="1931924" y="0"/>
                    <a:pt x="2489200" y="557276"/>
                    <a:pt x="2489200" y="1244600"/>
                  </a:cubicBezTo>
                  <a:cubicBezTo>
                    <a:pt x="2489200" y="1931924"/>
                    <a:pt x="1931924" y="2489200"/>
                    <a:pt x="1244600" y="2489200"/>
                  </a:cubicBezTo>
                  <a:cubicBezTo>
                    <a:pt x="557276" y="2489200"/>
                    <a:pt x="0" y="1931924"/>
                    <a:pt x="0" y="1244600"/>
                  </a:cubicBezTo>
                  <a:close/>
                </a:path>
              </a:pathLst>
            </a:custGeom>
            <a:solidFill>
              <a:srgbClr val="1A2744"/>
            </a:solidFill>
            <a:ln w="381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167360" y="5029200"/>
            <a:ext cx="1828800" cy="1828800"/>
            <a:chOff x="0" y="0"/>
            <a:chExt cx="2438400" cy="2438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04775"/>
              <a:ext cx="2438400" cy="2543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🔐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070080" y="7095744"/>
            <a:ext cx="4023360" cy="640080"/>
            <a:chOff x="0" y="0"/>
            <a:chExt cx="536448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the Future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070080" y="7717536"/>
            <a:ext cx="4023360" cy="1005840"/>
            <a:chOff x="0" y="0"/>
            <a:chExt cx="536448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3644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Post-quantum secure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 Kyber512 NIST 2024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9326880"/>
            <a:ext cx="16459200" cy="640080"/>
            <a:chOff x="0" y="0"/>
            <a:chExt cx="21945600" cy="853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spc="8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KruSh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08283" cy="10312403"/>
            <a:chOff x="0" y="0"/>
            <a:chExt cx="2777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7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277749">
                  <a:moveTo>
                    <a:pt x="0" y="0"/>
                  </a:moveTo>
                  <a:lnTo>
                    <a:pt x="277749" y="0"/>
                  </a:lnTo>
                  <a:lnTo>
                    <a:pt x="2777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182880"/>
            <a:ext cx="14630400" cy="768096"/>
            <a:chOff x="0" y="0"/>
            <a:chExt cx="19507200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1143" r="0" b="-32114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950720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Example: Flood Detection &amp; Alert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7200" y="877824"/>
            <a:ext cx="17373600" cy="512064"/>
            <a:chOff x="0" y="0"/>
            <a:chExt cx="231648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6480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1099" r="0" b="-61109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164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data → AI fusion → QNN inference → citizen alert   +   data stored &amp; model retrained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2336" y="1609344"/>
            <a:ext cx="2706624" cy="1499616"/>
            <a:chOff x="0" y="0"/>
            <a:chExt cx="3608832" cy="19994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088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89639" y="1596647"/>
            <a:ext cx="2732027" cy="135131"/>
            <a:chOff x="0" y="0"/>
            <a:chExt cx="3642703" cy="1801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42741" cy="180213"/>
            </a:xfrm>
            <a:custGeom>
              <a:avLst/>
              <a:gdLst/>
              <a:ahLst/>
              <a:cxnLst/>
              <a:rect r="r" b="b" t="t" l="l"/>
              <a:pathLst>
                <a:path h="180213" w="3642741">
                  <a:moveTo>
                    <a:pt x="0" y="0"/>
                  </a:moveTo>
                  <a:lnTo>
                    <a:pt x="3642741" y="0"/>
                  </a:lnTo>
                  <a:lnTo>
                    <a:pt x="3642741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792224"/>
            <a:ext cx="2414016" cy="640080"/>
            <a:chOff x="0" y="0"/>
            <a:chExt cx="3218688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18688" cy="853440"/>
            </a:xfrm>
            <a:custGeom>
              <a:avLst/>
              <a:gdLst/>
              <a:ahLst/>
              <a:cxnLst/>
              <a:rect r="r" b="b" t="t" l="l"/>
              <a:pathLst>
                <a:path h="853440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86" r="0" b="-234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21868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🌧️ Open-Meteo API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2414016"/>
            <a:ext cx="2414016" cy="548640"/>
            <a:chOff x="0" y="0"/>
            <a:chExt cx="3218688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18688" cy="731520"/>
            </a:xfrm>
            <a:custGeom>
              <a:avLst/>
              <a:gdLst/>
              <a:ahLst/>
              <a:cxnLst/>
              <a:rect r="r" b="b" t="t" l="l"/>
              <a:pathLst>
                <a:path h="731520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21868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Rainfall &gt; 10mm/hr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 Board area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438144" y="1609344"/>
            <a:ext cx="2706624" cy="1499616"/>
            <a:chOff x="0" y="0"/>
            <a:chExt cx="3608832" cy="19994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088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425447" y="1596647"/>
            <a:ext cx="2732027" cy="135131"/>
            <a:chOff x="0" y="0"/>
            <a:chExt cx="3642703" cy="1801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42741" cy="180213"/>
            </a:xfrm>
            <a:custGeom>
              <a:avLst/>
              <a:gdLst/>
              <a:ahLst/>
              <a:cxnLst/>
              <a:rect r="r" b="b" t="t" l="l"/>
              <a:pathLst>
                <a:path h="180213" w="3642741">
                  <a:moveTo>
                    <a:pt x="0" y="0"/>
                  </a:moveTo>
                  <a:lnTo>
                    <a:pt x="3642741" y="0"/>
                  </a:lnTo>
                  <a:lnTo>
                    <a:pt x="3642741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E07A00"/>
            </a:solidFill>
            <a:ln w="25400" cap="sq">
              <a:solidFill>
                <a:srgbClr val="E07A0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584448" y="1792224"/>
            <a:ext cx="2414016" cy="640080"/>
            <a:chOff x="0" y="0"/>
            <a:chExt cx="3218688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18688" cy="853440"/>
            </a:xfrm>
            <a:custGeom>
              <a:avLst/>
              <a:gdLst/>
              <a:ahLst/>
              <a:cxnLst/>
              <a:rect r="r" b="b" t="t" l="l"/>
              <a:pathLst>
                <a:path h="853440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86" r="0" b="-2348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21868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🐦 Reddit / Twitter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584448" y="2414016"/>
            <a:ext cx="2414016" cy="548640"/>
            <a:chOff x="0" y="0"/>
            <a:chExt cx="3218688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18688" cy="731520"/>
            </a:xfrm>
            <a:custGeom>
              <a:avLst/>
              <a:gdLst/>
              <a:ahLst/>
              <a:cxnLst/>
              <a:rect r="r" b="b" t="t" l="l"/>
              <a:pathLst>
                <a:path h="731520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321868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"waterlogging at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Silk Board junction"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73952" y="1609344"/>
            <a:ext cx="2706624" cy="1499616"/>
            <a:chOff x="0" y="0"/>
            <a:chExt cx="3608832" cy="19994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08832" cy="1999488"/>
            </a:xfrm>
            <a:custGeom>
              <a:avLst/>
              <a:gdLst/>
              <a:ahLst/>
              <a:cxnLst/>
              <a:rect r="r" b="b" t="t" l="l"/>
              <a:pathLst>
                <a:path h="1999488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61255" y="1596647"/>
            <a:ext cx="2732027" cy="135131"/>
            <a:chOff x="0" y="0"/>
            <a:chExt cx="3642703" cy="1801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42741" cy="180213"/>
            </a:xfrm>
            <a:custGeom>
              <a:avLst/>
              <a:gdLst/>
              <a:ahLst/>
              <a:cxnLst/>
              <a:rect r="r" b="b" t="t" l="l"/>
              <a:pathLst>
                <a:path h="180213" w="3642741">
                  <a:moveTo>
                    <a:pt x="0" y="0"/>
                  </a:moveTo>
                  <a:lnTo>
                    <a:pt x="3642741" y="0"/>
                  </a:lnTo>
                  <a:lnTo>
                    <a:pt x="3642741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E63946"/>
            </a:solidFill>
            <a:ln w="25400" cap="sq">
              <a:solidFill>
                <a:srgbClr val="E6394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620256" y="1792224"/>
            <a:ext cx="2414016" cy="640080"/>
            <a:chOff x="0" y="0"/>
            <a:chExt cx="3218688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18688" cy="853440"/>
            </a:xfrm>
            <a:custGeom>
              <a:avLst/>
              <a:gdLst/>
              <a:ahLst/>
              <a:cxnLst/>
              <a:rect r="r" b="b" t="t" l="l"/>
              <a:pathLst>
                <a:path h="853440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86" r="0" b="-2348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21868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📱 Citizen Report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620256" y="2414016"/>
            <a:ext cx="2414016" cy="548640"/>
            <a:chOff x="0" y="0"/>
            <a:chExt cx="3218688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18688" cy="731520"/>
            </a:xfrm>
            <a:custGeom>
              <a:avLst/>
              <a:gdLst/>
              <a:ahLst/>
              <a:cxnLst/>
              <a:rect r="r" b="b" t="t" l="l"/>
              <a:pathLst>
                <a:path h="731520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321868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Photo / voice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SOS from user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36598" y="3089910"/>
            <a:ext cx="38100" cy="659892"/>
            <a:chOff x="0" y="0"/>
            <a:chExt cx="50800" cy="879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800" cy="879856"/>
            </a:xfrm>
            <a:custGeom>
              <a:avLst/>
              <a:gdLst/>
              <a:ahLst/>
              <a:cxnLst/>
              <a:rect r="r" b="b" t="t" l="l"/>
              <a:pathLst>
                <a:path h="879856" w="50800">
                  <a:moveTo>
                    <a:pt x="0" y="0"/>
                  </a:moveTo>
                  <a:lnTo>
                    <a:pt x="50800" y="879856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172217" t="0" r="-2172217" b="0"/>
              </a:stretch>
            </a:blipFill>
            <a:ln w="381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626870" y="3528822"/>
            <a:ext cx="147828" cy="220980"/>
            <a:chOff x="0" y="0"/>
            <a:chExt cx="197104" cy="294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7104" cy="294640"/>
            </a:xfrm>
            <a:custGeom>
              <a:avLst/>
              <a:gdLst/>
              <a:ahLst/>
              <a:cxnLst/>
              <a:rect r="r" b="b" t="t" l="l"/>
              <a:pathLst>
                <a:path h="294640" w="197104">
                  <a:moveTo>
                    <a:pt x="0" y="0"/>
                  </a:moveTo>
                  <a:lnTo>
                    <a:pt x="197104" y="2946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41793" t="0" r="-141793" b="0"/>
              </a:stretch>
            </a:blipFill>
            <a:ln w="381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4772406" y="3089910"/>
            <a:ext cx="38100" cy="659892"/>
            <a:chOff x="0" y="0"/>
            <a:chExt cx="50800" cy="8798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" cy="879856"/>
            </a:xfrm>
            <a:custGeom>
              <a:avLst/>
              <a:gdLst/>
              <a:ahLst/>
              <a:cxnLst/>
              <a:rect r="r" b="b" t="t" l="l"/>
              <a:pathLst>
                <a:path h="879856" w="50800">
                  <a:moveTo>
                    <a:pt x="0" y="0"/>
                  </a:moveTo>
                  <a:lnTo>
                    <a:pt x="50800" y="879856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172217" t="0" r="-2172217" b="0"/>
              </a:stretch>
            </a:blipFill>
            <a:ln w="38100" cap="sq">
              <a:solidFill>
                <a:srgbClr val="E07A0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4662678" y="3528822"/>
            <a:ext cx="147828" cy="220980"/>
            <a:chOff x="0" y="0"/>
            <a:chExt cx="197104" cy="294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7104" cy="294640"/>
            </a:xfrm>
            <a:custGeom>
              <a:avLst/>
              <a:gdLst/>
              <a:ahLst/>
              <a:cxnLst/>
              <a:rect r="r" b="b" t="t" l="l"/>
              <a:pathLst>
                <a:path h="294640" w="197104">
                  <a:moveTo>
                    <a:pt x="0" y="0"/>
                  </a:moveTo>
                  <a:lnTo>
                    <a:pt x="197104" y="2946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41793" t="0" r="-141793" b="0"/>
              </a:stretch>
            </a:blipFill>
            <a:ln w="38100" cap="sq">
              <a:solidFill>
                <a:srgbClr val="E07A0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7808214" y="3089910"/>
            <a:ext cx="38100" cy="659892"/>
            <a:chOff x="0" y="0"/>
            <a:chExt cx="50800" cy="8798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0800" cy="879856"/>
            </a:xfrm>
            <a:custGeom>
              <a:avLst/>
              <a:gdLst/>
              <a:ahLst/>
              <a:cxnLst/>
              <a:rect r="r" b="b" t="t" l="l"/>
              <a:pathLst>
                <a:path h="879856" w="50800">
                  <a:moveTo>
                    <a:pt x="0" y="0"/>
                  </a:moveTo>
                  <a:lnTo>
                    <a:pt x="50800" y="879856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172217" t="0" r="-2172217" b="0"/>
              </a:stretch>
            </a:blipFill>
            <a:ln w="38100" cap="sq">
              <a:solidFill>
                <a:srgbClr val="E63946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7698486" y="3528822"/>
            <a:ext cx="147828" cy="220980"/>
            <a:chOff x="0" y="0"/>
            <a:chExt cx="197104" cy="294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7104" cy="294640"/>
            </a:xfrm>
            <a:custGeom>
              <a:avLst/>
              <a:gdLst/>
              <a:ahLst/>
              <a:cxnLst/>
              <a:rect r="r" b="b" t="t" l="l"/>
              <a:pathLst>
                <a:path h="294640" w="197104">
                  <a:moveTo>
                    <a:pt x="0" y="0"/>
                  </a:moveTo>
                  <a:lnTo>
                    <a:pt x="197104" y="2946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41793" t="0" r="-141793" b="0"/>
              </a:stretch>
            </a:blipFill>
            <a:ln w="38100" cap="sq">
              <a:solidFill>
                <a:srgbClr val="E63946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548640" y="3821430"/>
            <a:ext cx="9492234" cy="1537716"/>
            <a:chOff x="0" y="0"/>
            <a:chExt cx="12656312" cy="2050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656312" cy="2050288"/>
            </a:xfrm>
            <a:custGeom>
              <a:avLst/>
              <a:gdLst/>
              <a:ahLst/>
              <a:cxnLst/>
              <a:rect r="r" b="b" t="t" l="l"/>
              <a:pathLst>
                <a:path h="2050288" w="12656312">
                  <a:moveTo>
                    <a:pt x="0" y="0"/>
                  </a:moveTo>
                  <a:lnTo>
                    <a:pt x="12656312" y="0"/>
                  </a:lnTo>
                  <a:lnTo>
                    <a:pt x="12656312" y="2050288"/>
                  </a:lnTo>
                  <a:lnTo>
                    <a:pt x="0" y="2050288"/>
                  </a:lnTo>
                  <a:close/>
                </a:path>
              </a:pathLst>
            </a:custGeom>
            <a:solidFill>
              <a:srgbClr val="0D2035"/>
            </a:solidFill>
            <a:ln w="381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626870" y="4005072"/>
            <a:ext cx="6693408" cy="548640"/>
            <a:chOff x="0" y="0"/>
            <a:chExt cx="8924544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924544" cy="731520"/>
            </a:xfrm>
            <a:custGeom>
              <a:avLst/>
              <a:gdLst/>
              <a:ahLst/>
              <a:cxnLst/>
              <a:rect r="r" b="b" t="t" l="l"/>
              <a:pathLst>
                <a:path h="731520" w="8924544">
                  <a:moveTo>
                    <a:pt x="0" y="0"/>
                  </a:moveTo>
                  <a:lnTo>
                    <a:pt x="8924544" y="0"/>
                  </a:lnTo>
                  <a:lnTo>
                    <a:pt x="8924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717" r="0" b="-18771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92454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🤖  Gemini AI: Ingest, Deduplicate &amp; Fuse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810512" y="4571238"/>
            <a:ext cx="6693408" cy="603504"/>
            <a:chOff x="0" y="0"/>
            <a:chExt cx="8924544" cy="80467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924544" cy="804672"/>
            </a:xfrm>
            <a:custGeom>
              <a:avLst/>
              <a:gdLst/>
              <a:ahLst/>
              <a:cxnLst/>
              <a:rect r="r" b="b" t="t" l="l"/>
              <a:pathLst>
                <a:path h="804672" w="8924544">
                  <a:moveTo>
                    <a:pt x="0" y="0"/>
                  </a:moveTo>
                  <a:lnTo>
                    <a:pt x="8924544" y="0"/>
                  </a:lnTo>
                  <a:lnTo>
                    <a:pt x="8924544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621" r="0" b="-16459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924544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77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signals → 1 verified incident heavy rainfall  ·  location: Silk Board  ·  event_type: flood  ·  features extracted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002774" y="4571238"/>
            <a:ext cx="623316" cy="38100"/>
            <a:chOff x="0" y="0"/>
            <a:chExt cx="831088" cy="50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31088" cy="50800"/>
            </a:xfrm>
            <a:custGeom>
              <a:avLst/>
              <a:gdLst/>
              <a:ahLst/>
              <a:cxnLst/>
              <a:rect r="r" b="b" t="t" l="l"/>
              <a:pathLst>
                <a:path h="50800" w="831088">
                  <a:moveTo>
                    <a:pt x="0" y="0"/>
                  </a:moveTo>
                  <a:lnTo>
                    <a:pt x="831088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68775" r="0" b="-268775"/>
              </a:stretch>
            </a:blip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0405110" y="4461510"/>
            <a:ext cx="220980" cy="147828"/>
            <a:chOff x="0" y="0"/>
            <a:chExt cx="294640" cy="19710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4640" cy="197104"/>
            </a:xfrm>
            <a:custGeom>
              <a:avLst/>
              <a:gdLst/>
              <a:ahLst/>
              <a:cxnLst/>
              <a:rect r="r" b="b" t="t" l="l"/>
              <a:pathLst>
                <a:path h="197104" w="294640">
                  <a:moveTo>
                    <a:pt x="0" y="0"/>
                  </a:moveTo>
                  <a:lnTo>
                    <a:pt x="294640" y="197104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35830" t="0" r="-35830" b="0"/>
              </a:stretch>
            </a:blip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601200" y="3400044"/>
            <a:ext cx="1463040" cy="402336"/>
            <a:chOff x="0" y="0"/>
            <a:chExt cx="1950720" cy="5364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950720" cy="536448"/>
            </a:xfrm>
            <a:custGeom>
              <a:avLst/>
              <a:gdLst/>
              <a:ahLst/>
              <a:cxnLst/>
              <a:rect r="r" b="b" t="t" l="l"/>
              <a:pathLst>
                <a:path h="536448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9507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A855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4 features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679430" y="3638550"/>
            <a:ext cx="3183636" cy="1958340"/>
            <a:chOff x="0" y="0"/>
            <a:chExt cx="4244848" cy="26111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244848" cy="2611120"/>
            </a:xfrm>
            <a:custGeom>
              <a:avLst/>
              <a:gdLst/>
              <a:ahLst/>
              <a:cxnLst/>
              <a:rect r="r" b="b" t="t" l="l"/>
              <a:pathLst>
                <a:path h="2611120" w="4244848">
                  <a:moveTo>
                    <a:pt x="0" y="0"/>
                  </a:moveTo>
                  <a:lnTo>
                    <a:pt x="4244848" y="0"/>
                  </a:lnTo>
                  <a:lnTo>
                    <a:pt x="4244848" y="2611120"/>
                  </a:lnTo>
                  <a:lnTo>
                    <a:pt x="0" y="2611120"/>
                  </a:lnTo>
                  <a:close/>
                </a:path>
              </a:pathLst>
            </a:custGeom>
            <a:solidFill>
              <a:srgbClr val="1A0A2E"/>
            </a:solid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0844784" y="3785616"/>
            <a:ext cx="2852928" cy="548640"/>
            <a:chOff x="0" y="0"/>
            <a:chExt cx="3803904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803904" cy="731520"/>
            </a:xfrm>
            <a:custGeom>
              <a:avLst/>
              <a:gdLst/>
              <a:ahLst/>
              <a:cxnLst/>
              <a:rect r="r" b="b" t="t" l="l"/>
              <a:pathLst>
                <a:path h="73152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380390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⚛️  QNN / VQC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844784" y="4352544"/>
            <a:ext cx="2852928" cy="1060704"/>
            <a:chOff x="0" y="0"/>
            <a:chExt cx="3803904" cy="14142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8039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8" r="0" b="-240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3803904" cy="14428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CAA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18yr Silk Board history: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CAA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flooded 9× — severity HIGH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CCAA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Risk score: 0.87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685783" y="5711447"/>
            <a:ext cx="3170939" cy="1086107"/>
            <a:chOff x="0" y="0"/>
            <a:chExt cx="4227919" cy="144814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227957" cy="1448181"/>
            </a:xfrm>
            <a:custGeom>
              <a:avLst/>
              <a:gdLst/>
              <a:ahLst/>
              <a:cxnLst/>
              <a:rect r="r" b="b" t="t" l="l"/>
              <a:pathLst>
                <a:path h="1448181" w="4227957">
                  <a:moveTo>
                    <a:pt x="0" y="0"/>
                  </a:moveTo>
                  <a:lnTo>
                    <a:pt x="4227957" y="0"/>
                  </a:lnTo>
                  <a:lnTo>
                    <a:pt x="422795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A1828"/>
            </a:solidFill>
            <a:ln w="25400" cap="sq">
              <a:solidFill>
                <a:srgbClr val="223344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0685783" y="5711447"/>
            <a:ext cx="2852928" cy="402336"/>
            <a:chOff x="0" y="0"/>
            <a:chExt cx="3803904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803904" cy="536448"/>
            </a:xfrm>
            <a:custGeom>
              <a:avLst/>
              <a:gdLst/>
              <a:ahLst/>
              <a:cxnLst/>
              <a:rect r="r" b="b" t="t" l="l"/>
              <a:pathLst>
                <a:path h="536448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166" r="0" b="-8816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803904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E5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📍 Location match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857490" y="6090666"/>
            <a:ext cx="2852928" cy="548640"/>
            <a:chOff x="0" y="0"/>
            <a:chExt cx="3803904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03904" cy="731520"/>
            </a:xfrm>
            <a:custGeom>
              <a:avLst/>
              <a:gdLst/>
              <a:ahLst/>
              <a:cxnLst/>
              <a:rect r="r" b="b" t="t" l="l"/>
              <a:pathLst>
                <a:path h="73152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80390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677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GPS ∈ flood zone?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677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yes → alert triggered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258551" y="5565143"/>
            <a:ext cx="25403" cy="171707"/>
            <a:chOff x="0" y="0"/>
            <a:chExt cx="33871" cy="22894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3909" cy="228981"/>
            </a:xfrm>
            <a:custGeom>
              <a:avLst/>
              <a:gdLst/>
              <a:ahLst/>
              <a:cxnLst/>
              <a:rect r="r" b="b" t="t" l="l"/>
              <a:pathLst>
                <a:path h="228981" w="33909">
                  <a:moveTo>
                    <a:pt x="0" y="0"/>
                  </a:moveTo>
                  <a:lnTo>
                    <a:pt x="33909" y="22898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816321" t="0" r="-816209" b="16"/>
              </a:stretch>
            </a:blipFill>
            <a:ln w="25400" cap="sq">
              <a:solidFill>
                <a:srgbClr val="334455"/>
              </a:solidFill>
              <a:prstDash val="dash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3824966" y="4598670"/>
            <a:ext cx="550164" cy="38100"/>
            <a:chOff x="0" y="0"/>
            <a:chExt cx="733552" cy="50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33552" cy="50800"/>
            </a:xfrm>
            <a:custGeom>
              <a:avLst/>
              <a:gdLst/>
              <a:ahLst/>
              <a:cxnLst/>
              <a:rect r="r" b="b" t="t" l="l"/>
              <a:pathLst>
                <a:path h="50800" w="733552">
                  <a:moveTo>
                    <a:pt x="0" y="0"/>
                  </a:moveTo>
                  <a:lnTo>
                    <a:pt x="733552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31363" r="0" b="-231363"/>
              </a:stretch>
            </a:blipFill>
            <a:ln w="3810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4154150" y="4488942"/>
            <a:ext cx="220980" cy="147828"/>
            <a:chOff x="0" y="0"/>
            <a:chExt cx="294640" cy="19710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94640" cy="197104"/>
            </a:xfrm>
            <a:custGeom>
              <a:avLst/>
              <a:gdLst/>
              <a:ahLst/>
              <a:cxnLst/>
              <a:rect r="r" b="b" t="t" l="l"/>
              <a:pathLst>
                <a:path h="197104" w="294640">
                  <a:moveTo>
                    <a:pt x="0" y="0"/>
                  </a:moveTo>
                  <a:lnTo>
                    <a:pt x="294640" y="197104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35830" t="0" r="-35830" b="0"/>
              </a:stretch>
            </a:blipFill>
            <a:ln w="3810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3697712" y="3349500"/>
            <a:ext cx="1645920" cy="402336"/>
            <a:chOff x="0" y="0"/>
            <a:chExt cx="2194560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1945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2ECC7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severity=HIGH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428470" y="3858006"/>
            <a:ext cx="3366516" cy="1537716"/>
            <a:chOff x="0" y="0"/>
            <a:chExt cx="4488688" cy="205028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488688" cy="2050288"/>
            </a:xfrm>
            <a:custGeom>
              <a:avLst/>
              <a:gdLst/>
              <a:ahLst/>
              <a:cxnLst/>
              <a:rect r="r" b="b" t="t" l="l"/>
              <a:pathLst>
                <a:path h="2050288" w="4488688">
                  <a:moveTo>
                    <a:pt x="0" y="0"/>
                  </a:moveTo>
                  <a:lnTo>
                    <a:pt x="4488688" y="0"/>
                  </a:lnTo>
                  <a:lnTo>
                    <a:pt x="4488688" y="2050288"/>
                  </a:lnTo>
                  <a:lnTo>
                    <a:pt x="0" y="2050288"/>
                  </a:lnTo>
                  <a:close/>
                </a:path>
              </a:pathLst>
            </a:custGeom>
            <a:solidFill>
              <a:srgbClr val="0A2A10"/>
            </a:solidFill>
            <a:ln w="3810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4593824" y="4023360"/>
            <a:ext cx="3035808" cy="512064"/>
            <a:chOff x="0" y="0"/>
            <a:chExt cx="4047744" cy="682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047744" cy="682752"/>
            </a:xfrm>
            <a:custGeom>
              <a:avLst/>
              <a:gdLst/>
              <a:ahLst/>
              <a:cxnLst/>
              <a:rect r="r" b="b" t="t" l="l"/>
              <a:pathLst>
                <a:path h="682752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518" r="0" b="-65518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404774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🔔 Push Notification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593824" y="4535424"/>
            <a:ext cx="3035808" cy="768096"/>
            <a:chOff x="0" y="0"/>
            <a:chExt cx="4047744" cy="102412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047744" cy="1024128"/>
            </a:xfrm>
            <a:custGeom>
              <a:avLst/>
              <a:gdLst/>
              <a:ahLst/>
              <a:cxnLst/>
              <a:rect r="r" b="b" t="t" l="l"/>
              <a:pathLst>
                <a:path h="1024128" w="4047744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2" r="0" b="-2701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4047744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DD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"⚠️ Flood risk HIGH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DD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 Silk Board —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DD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avoid the area"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3766566" y="5321046"/>
            <a:ext cx="38100" cy="1318260"/>
            <a:chOff x="0" y="0"/>
            <a:chExt cx="50800" cy="17576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0800" cy="1757680"/>
            </a:xfrm>
            <a:custGeom>
              <a:avLst/>
              <a:gdLst/>
              <a:ahLst/>
              <a:cxnLst/>
              <a:rect r="r" b="b" t="t" l="l"/>
              <a:pathLst>
                <a:path h="1757680" w="50800">
                  <a:moveTo>
                    <a:pt x="0" y="0"/>
                  </a:moveTo>
                  <a:lnTo>
                    <a:pt x="50800" y="175768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4389303" t="0" r="-4389303" b="0"/>
              </a:stretch>
            </a:blipFill>
            <a:ln w="38100" cap="sq">
              <a:solidFill>
                <a:srgbClr val="335577"/>
              </a:solidFill>
              <a:prstDash val="sysDash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846326" y="6601206"/>
            <a:ext cx="1958340" cy="38100"/>
            <a:chOff x="0" y="0"/>
            <a:chExt cx="2611120" cy="508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611120" cy="50800"/>
            </a:xfrm>
            <a:custGeom>
              <a:avLst/>
              <a:gdLst/>
              <a:ahLst/>
              <a:cxnLst/>
              <a:rect r="r" b="b" t="t" l="l"/>
              <a:pathLst>
                <a:path h="50800" w="2611120">
                  <a:moveTo>
                    <a:pt x="0" y="0"/>
                  </a:moveTo>
                  <a:lnTo>
                    <a:pt x="261112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951530" r="0" b="-951530"/>
              </a:stretch>
            </a:blipFill>
            <a:ln w="38100" cap="sq">
              <a:solidFill>
                <a:srgbClr val="335577"/>
              </a:solidFill>
              <a:prstDash val="sysDash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1846326" y="6272022"/>
            <a:ext cx="38100" cy="367284"/>
            <a:chOff x="0" y="0"/>
            <a:chExt cx="50800" cy="48971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0800" cy="489712"/>
            </a:xfrm>
            <a:custGeom>
              <a:avLst/>
              <a:gdLst/>
              <a:ahLst/>
              <a:cxnLst/>
              <a:rect r="r" b="b" t="t" l="l"/>
              <a:pathLst>
                <a:path h="489712" w="50800">
                  <a:moveTo>
                    <a:pt x="0" y="0"/>
                  </a:moveTo>
                  <a:lnTo>
                    <a:pt x="50800" y="489712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186846" t="0" r="-1186846" b="0"/>
              </a:stretch>
            </a:blipFill>
            <a:ln w="38100" cap="sq">
              <a:solidFill>
                <a:srgbClr val="335577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736598" y="6418326"/>
            <a:ext cx="147828" cy="220980"/>
            <a:chOff x="0" y="0"/>
            <a:chExt cx="197104" cy="2946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97104" cy="294640"/>
            </a:xfrm>
            <a:custGeom>
              <a:avLst/>
              <a:gdLst/>
              <a:ahLst/>
              <a:cxnLst/>
              <a:rect r="r" b="b" t="t" l="l"/>
              <a:pathLst>
                <a:path h="294640" w="197104">
                  <a:moveTo>
                    <a:pt x="0" y="0"/>
                  </a:moveTo>
                  <a:lnTo>
                    <a:pt x="197104" y="2946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41793" t="0" r="-141793" b="0"/>
              </a:stretch>
            </a:blipFill>
            <a:ln w="38100" cap="sq">
              <a:solidFill>
                <a:srgbClr val="335577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387096" y="6605016"/>
            <a:ext cx="2956560" cy="1530096"/>
            <a:chOff x="0" y="0"/>
            <a:chExt cx="3942080" cy="204012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942080" cy="2040128"/>
            </a:xfrm>
            <a:custGeom>
              <a:avLst/>
              <a:gdLst/>
              <a:ahLst/>
              <a:cxnLst/>
              <a:rect r="r" b="b" t="t" l="l"/>
              <a:pathLst>
                <a:path h="2040128" w="3942080">
                  <a:moveTo>
                    <a:pt x="0" y="0"/>
                  </a:moveTo>
                  <a:lnTo>
                    <a:pt x="3942080" y="0"/>
                  </a:lnTo>
                  <a:lnTo>
                    <a:pt x="3942080" y="2040128"/>
                  </a:lnTo>
                  <a:lnTo>
                    <a:pt x="0" y="2040128"/>
                  </a:lnTo>
                  <a:close/>
                </a:path>
              </a:pathLst>
            </a:custGeom>
            <a:solidFill>
              <a:srgbClr val="0A1E2E"/>
            </a:solidFill>
            <a:ln w="3048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548640" y="6766560"/>
            <a:ext cx="2633472" cy="512064"/>
            <a:chOff x="0" y="0"/>
            <a:chExt cx="3511296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511296" cy="682752"/>
            </a:xfrm>
            <a:custGeom>
              <a:avLst/>
              <a:gdLst/>
              <a:ahLst/>
              <a:cxnLst/>
              <a:rect r="r" b="b" t="t" l="l"/>
              <a:pathLst>
                <a:path h="682752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35112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🗄️  Storage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48640" y="7315200"/>
            <a:ext cx="2633472" cy="658368"/>
            <a:chOff x="0" y="0"/>
            <a:chExt cx="3511296" cy="87782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511296" cy="877824"/>
            </a:xfrm>
            <a:custGeom>
              <a:avLst/>
              <a:gdLst/>
              <a:ahLst/>
              <a:cxnLst/>
              <a:rect r="r" b="b" t="t" l="l"/>
              <a:pathLst>
                <a:path h="877824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3511296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5577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Cache with ttl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5577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data point persisted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3309366" y="7351014"/>
            <a:ext cx="550164" cy="38100"/>
            <a:chOff x="0" y="0"/>
            <a:chExt cx="733552" cy="508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33552" cy="50800"/>
            </a:xfrm>
            <a:custGeom>
              <a:avLst/>
              <a:gdLst/>
              <a:ahLst/>
              <a:cxnLst/>
              <a:rect r="r" b="b" t="t" l="l"/>
              <a:pathLst>
                <a:path h="50800" w="733552">
                  <a:moveTo>
                    <a:pt x="0" y="0"/>
                  </a:moveTo>
                  <a:lnTo>
                    <a:pt x="733552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31363" r="0" b="-231363"/>
              </a:stretch>
            </a:blipFill>
            <a:ln w="38100" cap="sq">
              <a:solidFill>
                <a:srgbClr val="E07A00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3638550" y="7241286"/>
            <a:ext cx="220980" cy="147828"/>
            <a:chOff x="0" y="0"/>
            <a:chExt cx="294640" cy="19710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94640" cy="197104"/>
            </a:xfrm>
            <a:custGeom>
              <a:avLst/>
              <a:gdLst/>
              <a:ahLst/>
              <a:cxnLst/>
              <a:rect r="r" b="b" t="t" l="l"/>
              <a:pathLst>
                <a:path h="197104" w="294640">
                  <a:moveTo>
                    <a:pt x="0" y="0"/>
                  </a:moveTo>
                  <a:lnTo>
                    <a:pt x="294640" y="197104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35830" t="0" r="-35830" b="0"/>
              </a:stretch>
            </a:blipFill>
            <a:ln w="38100" cap="sq">
              <a:solidFill>
                <a:srgbClr val="E07A00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2179332" y="6009894"/>
            <a:ext cx="2328649" cy="710184"/>
            <a:chOff x="0" y="0"/>
            <a:chExt cx="1755648" cy="53543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755648" cy="535432"/>
            </a:xfrm>
            <a:custGeom>
              <a:avLst/>
              <a:gdLst/>
              <a:ahLst/>
              <a:cxnLst/>
              <a:rect r="r" b="b" t="t" l="l"/>
              <a:pathLst>
                <a:path h="535432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535432"/>
                  </a:lnTo>
                  <a:lnTo>
                    <a:pt x="0" y="535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49" r="0" b="-9431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1755648" cy="573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E07A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new data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3912870" y="6546342"/>
            <a:ext cx="3238500" cy="1647444"/>
            <a:chOff x="0" y="0"/>
            <a:chExt cx="4318000" cy="219659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318000" cy="2196592"/>
            </a:xfrm>
            <a:custGeom>
              <a:avLst/>
              <a:gdLst/>
              <a:ahLst/>
              <a:cxnLst/>
              <a:rect r="r" b="b" t="t" l="l"/>
              <a:pathLst>
                <a:path h="2196592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196592"/>
                  </a:lnTo>
                  <a:lnTo>
                    <a:pt x="0" y="2196592"/>
                  </a:lnTo>
                  <a:close/>
                </a:path>
              </a:pathLst>
            </a:custGeom>
            <a:solidFill>
              <a:srgbClr val="1A120A"/>
            </a:solidFill>
            <a:ln w="38100" cap="sq">
              <a:solidFill>
                <a:srgbClr val="E07A00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4078224" y="6711696"/>
            <a:ext cx="2907792" cy="512064"/>
            <a:chOff x="0" y="0"/>
            <a:chExt cx="3877056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877056" cy="682752"/>
            </a:xfrm>
            <a:custGeom>
              <a:avLst/>
              <a:gdLst/>
              <a:ahLst/>
              <a:cxnLst/>
              <a:rect r="r" b="b" t="t" l="l"/>
              <a:pathLst>
                <a:path h="682752" w="3877056">
                  <a:moveTo>
                    <a:pt x="0" y="0"/>
                  </a:moveTo>
                  <a:lnTo>
                    <a:pt x="3877056" y="0"/>
                  </a:lnTo>
                  <a:lnTo>
                    <a:pt x="387705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647" r="0" b="-60647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387705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E07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🔄 Learning Agent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4078224" y="7260336"/>
            <a:ext cx="2907792" cy="768096"/>
            <a:chOff x="0" y="0"/>
            <a:chExt cx="3877056" cy="102412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877056" cy="1024128"/>
            </a:xfrm>
            <a:custGeom>
              <a:avLst/>
              <a:gdLst/>
              <a:ahLst/>
              <a:cxnLst/>
              <a:rect r="r" b="b" t="t" l="l"/>
              <a:pathLst>
                <a:path h="1024128" w="3877056">
                  <a:moveTo>
                    <a:pt x="0" y="0"/>
                  </a:moveTo>
                  <a:lnTo>
                    <a:pt x="3877056" y="0"/>
                  </a:lnTo>
                  <a:lnTo>
                    <a:pt x="387705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764" r="0" b="-2376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28575"/>
              <a:ext cx="3877056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AA88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Retrains QML model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AA88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50 records / 6 hrs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7113270" y="7351014"/>
            <a:ext cx="440436" cy="38100"/>
            <a:chOff x="0" y="0"/>
            <a:chExt cx="587248" cy="508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87248" cy="50800"/>
            </a:xfrm>
            <a:custGeom>
              <a:avLst/>
              <a:gdLst/>
              <a:ahLst/>
              <a:cxnLst/>
              <a:rect r="r" b="b" t="t" l="l"/>
              <a:pathLst>
                <a:path h="50800" w="587248">
                  <a:moveTo>
                    <a:pt x="0" y="0"/>
                  </a:moveTo>
                  <a:lnTo>
                    <a:pt x="587248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75247" r="0" b="-175247"/>
              </a:stretch>
            </a:blipFill>
            <a:ln w="38100" cap="sq">
              <a:solidFill>
                <a:srgbClr val="7B2FBE"/>
              </a:solidFill>
              <a:prstDash val="dash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7515606" y="5814822"/>
            <a:ext cx="38100" cy="1574292"/>
            <a:chOff x="0" y="0"/>
            <a:chExt cx="50800" cy="209905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50800" cy="2099056"/>
            </a:xfrm>
            <a:custGeom>
              <a:avLst/>
              <a:gdLst/>
              <a:ahLst/>
              <a:cxnLst/>
              <a:rect r="r" b="b" t="t" l="l"/>
              <a:pathLst>
                <a:path h="2099056" w="50800">
                  <a:moveTo>
                    <a:pt x="0" y="0"/>
                  </a:moveTo>
                  <a:lnTo>
                    <a:pt x="50800" y="2099056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5251503" t="0" r="-5251503" b="0"/>
              </a:stretch>
            </a:blipFill>
            <a:ln w="38100" cap="sq">
              <a:solidFill>
                <a:srgbClr val="7B2FBE"/>
              </a:solidFill>
              <a:prstDash val="dash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7515606" y="5814822"/>
            <a:ext cx="3476244" cy="38100"/>
            <a:chOff x="0" y="0"/>
            <a:chExt cx="4634992" cy="508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634992" cy="50800"/>
            </a:xfrm>
            <a:custGeom>
              <a:avLst/>
              <a:gdLst/>
              <a:ahLst/>
              <a:cxnLst/>
              <a:rect r="r" b="b" t="t" l="l"/>
              <a:pathLst>
                <a:path h="50800" w="4634992">
                  <a:moveTo>
                    <a:pt x="0" y="0"/>
                  </a:moveTo>
                  <a:lnTo>
                    <a:pt x="4634992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727814" r="0" b="-1727814"/>
              </a:stretch>
            </a:blipFill>
            <a:ln w="38100" cap="sq">
              <a:solidFill>
                <a:srgbClr val="7B2FBE"/>
              </a:solidFill>
              <a:prstDash val="dash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953750" y="5449062"/>
            <a:ext cx="38100" cy="403860"/>
            <a:chOff x="0" y="0"/>
            <a:chExt cx="50800" cy="5384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0800" cy="538480"/>
            </a:xfrm>
            <a:custGeom>
              <a:avLst/>
              <a:gdLst/>
              <a:ahLst/>
              <a:cxnLst/>
              <a:rect r="r" b="b" t="t" l="l"/>
              <a:pathLst>
                <a:path h="538480" w="50800">
                  <a:moveTo>
                    <a:pt x="0" y="0"/>
                  </a:moveTo>
                  <a:lnTo>
                    <a:pt x="50800" y="53848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310017" t="0" r="-1310017" b="0"/>
              </a:stretch>
            </a:blip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10844022" y="5631942"/>
            <a:ext cx="147828" cy="220980"/>
            <a:chOff x="0" y="0"/>
            <a:chExt cx="197104" cy="29464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97104" cy="294640"/>
            </a:xfrm>
            <a:custGeom>
              <a:avLst/>
              <a:gdLst/>
              <a:ahLst/>
              <a:cxnLst/>
              <a:rect r="r" b="b" t="t" l="l"/>
              <a:pathLst>
                <a:path h="294640" w="197104">
                  <a:moveTo>
                    <a:pt x="0" y="0"/>
                  </a:moveTo>
                  <a:lnTo>
                    <a:pt x="197104" y="2946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41793" t="0" r="-141793" b="0"/>
              </a:stretch>
            </a:blipFill>
            <a:ln w="381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-1796486">
            <a:off x="5413304" y="4947321"/>
            <a:ext cx="7461392" cy="2835329"/>
            <a:chOff x="0" y="0"/>
            <a:chExt cx="2438400" cy="92659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438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6" r="0" b="-1276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28575"/>
              <a:ext cx="243840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A855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⟳ model updated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0079800" y="6753606"/>
            <a:ext cx="7763706" cy="3262636"/>
            <a:chOff x="0" y="0"/>
            <a:chExt cx="10640911" cy="4471759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0640949" cy="4471797"/>
            </a:xfrm>
            <a:custGeom>
              <a:avLst/>
              <a:gdLst/>
              <a:ahLst/>
              <a:cxnLst/>
              <a:rect r="r" b="b" t="t" l="l"/>
              <a:pathLst>
                <a:path h="4471797" w="10640949">
                  <a:moveTo>
                    <a:pt x="0" y="0"/>
                  </a:moveTo>
                  <a:lnTo>
                    <a:pt x="10640949" y="0"/>
                  </a:lnTo>
                  <a:lnTo>
                    <a:pt x="10640949" y="4471797"/>
                  </a:lnTo>
                  <a:lnTo>
                    <a:pt x="0" y="4471797"/>
                  </a:lnTo>
                  <a:close/>
                </a:path>
              </a:pathLst>
            </a:custGeom>
            <a:solidFill>
              <a:srgbClr val="0D1828"/>
            </a:solidFill>
            <a:ln w="25400" cap="sq">
              <a:solidFill>
                <a:srgbClr val="223344"/>
              </a:solidFill>
              <a:prstDash val="solid"/>
              <a:miter/>
            </a:ln>
          </p:spPr>
        </p:sp>
      </p:grpSp>
      <p:grpSp>
        <p:nvGrpSpPr>
          <p:cNvPr name="Group 146" id="146"/>
          <p:cNvGrpSpPr/>
          <p:nvPr/>
        </p:nvGrpSpPr>
        <p:grpSpPr>
          <a:xfrm rot="0">
            <a:off x="10149840" y="6858000"/>
            <a:ext cx="1828800" cy="402336"/>
            <a:chOff x="0" y="0"/>
            <a:chExt cx="2438400" cy="53644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438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28575"/>
              <a:ext cx="24384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5566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0137143" y="7485383"/>
            <a:ext cx="610619" cy="208283"/>
            <a:chOff x="0" y="0"/>
            <a:chExt cx="814159" cy="27771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814197" cy="277749"/>
            </a:xfrm>
            <a:custGeom>
              <a:avLst/>
              <a:gdLst/>
              <a:ahLst/>
              <a:cxnLst/>
              <a:rect r="r" b="b" t="t" l="l"/>
              <a:pathLst>
                <a:path h="277749" w="814197">
                  <a:moveTo>
                    <a:pt x="0" y="0"/>
                  </a:moveTo>
                  <a:lnTo>
                    <a:pt x="814197" y="0"/>
                  </a:lnTo>
                  <a:lnTo>
                    <a:pt x="814197" y="277749"/>
                  </a:lnTo>
                  <a:lnTo>
                    <a:pt x="0" y="277749"/>
                  </a:ln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151" id="151"/>
          <p:cNvGrpSpPr/>
          <p:nvPr/>
        </p:nvGrpSpPr>
        <p:grpSpPr>
          <a:xfrm rot="0">
            <a:off x="10936224" y="7370064"/>
            <a:ext cx="6949440" cy="512064"/>
            <a:chOff x="0" y="0"/>
            <a:chExt cx="9265920" cy="68275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data ingestion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0137143" y="8107175"/>
            <a:ext cx="610619" cy="208283"/>
            <a:chOff x="0" y="0"/>
            <a:chExt cx="814159" cy="277711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814197" cy="277749"/>
            </a:xfrm>
            <a:custGeom>
              <a:avLst/>
              <a:gdLst/>
              <a:ahLst/>
              <a:cxnLst/>
              <a:rect r="r" b="b" t="t" l="l"/>
              <a:pathLst>
                <a:path h="277749" w="814197">
                  <a:moveTo>
                    <a:pt x="0" y="0"/>
                  </a:moveTo>
                  <a:lnTo>
                    <a:pt x="814197" y="0"/>
                  </a:lnTo>
                  <a:lnTo>
                    <a:pt x="814197" y="277749"/>
                  </a:lnTo>
                  <a:lnTo>
                    <a:pt x="0" y="277749"/>
                  </a:lnTo>
                  <a:close/>
                </a:path>
              </a:pathLst>
            </a:custGeom>
            <a:solidFill>
              <a:srgbClr val="2ECC71"/>
            </a:solidFill>
            <a:ln w="2540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10936224" y="7991856"/>
            <a:ext cx="6949440" cy="512064"/>
            <a:chOff x="0" y="0"/>
            <a:chExt cx="9265920" cy="682752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 dispatch to citizen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0137143" y="8728967"/>
            <a:ext cx="610619" cy="208283"/>
            <a:chOff x="0" y="0"/>
            <a:chExt cx="814159" cy="277711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814197" cy="277749"/>
            </a:xfrm>
            <a:custGeom>
              <a:avLst/>
              <a:gdLst/>
              <a:ahLst/>
              <a:cxnLst/>
              <a:rect r="r" b="b" t="t" l="l"/>
              <a:pathLst>
                <a:path h="277749" w="814197">
                  <a:moveTo>
                    <a:pt x="0" y="0"/>
                  </a:moveTo>
                  <a:lnTo>
                    <a:pt x="814197" y="0"/>
                  </a:lnTo>
                  <a:lnTo>
                    <a:pt x="814197" y="277749"/>
                  </a:lnTo>
                  <a:lnTo>
                    <a:pt x="0" y="277749"/>
                  </a:lnTo>
                  <a:close/>
                </a:path>
              </a:pathLst>
            </a:custGeom>
            <a:solidFill>
              <a:srgbClr val="E07A00"/>
            </a:solidFill>
            <a:ln w="25400" cap="sq">
              <a:solidFill>
                <a:srgbClr val="E07A00"/>
              </a:solidFill>
              <a:prstDash val="solid"/>
              <a:miter/>
            </a:ln>
          </p:spPr>
        </p:sp>
      </p:grpSp>
      <p:grpSp>
        <p:nvGrpSpPr>
          <p:cNvPr name="Group 161" id="161"/>
          <p:cNvGrpSpPr/>
          <p:nvPr/>
        </p:nvGrpSpPr>
        <p:grpSpPr>
          <a:xfrm rot="0">
            <a:off x="10936224" y="8613648"/>
            <a:ext cx="6949440" cy="512064"/>
            <a:chOff x="0" y="0"/>
            <a:chExt cx="9265920" cy="68275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Storage → retraining path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0137143" y="9350759"/>
            <a:ext cx="610619" cy="208283"/>
            <a:chOff x="0" y="0"/>
            <a:chExt cx="814159" cy="277711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814197" cy="277749"/>
            </a:xfrm>
            <a:custGeom>
              <a:avLst/>
              <a:gdLst/>
              <a:ahLst/>
              <a:cxnLst/>
              <a:rect r="r" b="b" t="t" l="l"/>
              <a:pathLst>
                <a:path h="277749" w="814197">
                  <a:moveTo>
                    <a:pt x="0" y="0"/>
                  </a:moveTo>
                  <a:lnTo>
                    <a:pt x="814197" y="0"/>
                  </a:lnTo>
                  <a:lnTo>
                    <a:pt x="814197" y="277749"/>
                  </a:lnTo>
                  <a:lnTo>
                    <a:pt x="0" y="277749"/>
                  </a:lnTo>
                  <a:close/>
                </a:path>
              </a:pathLst>
            </a:custGeom>
            <a:solidFill>
              <a:srgbClr val="7B2FBE"/>
            </a:solidFill>
            <a:ln w="25400" cap="sq">
              <a:solidFill>
                <a:srgbClr val="7B2FBE"/>
              </a:solidFill>
              <a:prstDash val="solid"/>
              <a:miter/>
            </a:ln>
          </p:spPr>
        </p:sp>
      </p:grpSp>
      <p:grpSp>
        <p:nvGrpSpPr>
          <p:cNvPr name="Group 166" id="166"/>
          <p:cNvGrpSpPr/>
          <p:nvPr/>
        </p:nvGrpSpPr>
        <p:grpSpPr>
          <a:xfrm rot="0">
            <a:off x="10936224" y="9235440"/>
            <a:ext cx="6949440" cy="512064"/>
            <a:chOff x="0" y="0"/>
            <a:chExt cx="9265920" cy="682752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38100"/>
              <a:ext cx="9265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Feedback loop (model retrain, dashed)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-5400000">
            <a:off x="4504920" y="3166896"/>
            <a:ext cx="782574" cy="488395"/>
            <a:chOff x="0" y="0"/>
            <a:chExt cx="647700" cy="404222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47700" cy="404222"/>
            </a:xfrm>
            <a:custGeom>
              <a:avLst/>
              <a:gdLst/>
              <a:ahLst/>
              <a:cxnLst/>
              <a:rect r="r" b="b" t="t" l="l"/>
              <a:pathLst>
                <a:path h="404222" w="647700">
                  <a:moveTo>
                    <a:pt x="239386" y="165580"/>
                  </a:moveTo>
                  <a:lnTo>
                    <a:pt x="647700" y="165580"/>
                  </a:lnTo>
                  <a:lnTo>
                    <a:pt x="647700" y="238627"/>
                  </a:lnTo>
                  <a:lnTo>
                    <a:pt x="239373" y="238627"/>
                  </a:lnTo>
                  <a:lnTo>
                    <a:pt x="302255" y="404222"/>
                  </a:lnTo>
                  <a:lnTo>
                    <a:pt x="0" y="202111"/>
                  </a:lnTo>
                  <a:lnTo>
                    <a:pt x="302255" y="0"/>
                  </a:lnTo>
                  <a:lnTo>
                    <a:pt x="239386" y="165580"/>
                  </a:lnTo>
                  <a:close/>
                </a:path>
              </a:pathLst>
            </a:custGeom>
            <a:solidFill>
              <a:srgbClr val="0077B6"/>
            </a:solidFill>
          </p:spPr>
        </p:sp>
        <p:sp>
          <p:nvSpPr>
            <p:cNvPr name="TextBox 171" id="171"/>
            <p:cNvSpPr txBox="true"/>
            <p:nvPr/>
          </p:nvSpPr>
          <p:spPr>
            <a:xfrm>
              <a:off x="120650" y="117475"/>
              <a:ext cx="527050" cy="121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DAHKfFSzYzo</dc:identifier>
  <dcterms:modified xsi:type="dcterms:W3CDTF">2011-08-01T06:04:30Z</dcterms:modified>
  <cp:revision>1</cp:revision>
  <dc:title>City_Samachaar.pptx</dc:title>
</cp:coreProperties>
</file>